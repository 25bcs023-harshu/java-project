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11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slides/_rels/slide11.xml.rels" ContentType="application/vnd.openxmlformats-package.relationships+xml"/>
  <Override PartName="/ppt/slides/_rels/slide12.xml.rels" ContentType="application/vnd.openxmlformats-package.relationships+xml"/>
  <Override PartName="/ppt/slides/_rels/slide13.xml.rels" ContentType="application/vnd.openxmlformats-package.relationships+xml"/>
  <Override PartName="/ppt/slides/_rels/slide14.xml.rels" ContentType="application/vnd.openxmlformats-package.relationships+xml"/>
  <Override PartName="/ppt/presProps.xml" ContentType="application/vnd.openxmlformats-officedocument.presentationml.presProps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media/image6.png" ContentType="image/png"/>
  <Override PartName="/ppt/media/image7.png" ContentType="image/pn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</p:sldIdLst>
  <p:sldSz cx="18288000" cy="10287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IN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IN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0636F3E-7EEA-416F-98DD-3EB66EF46DE0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IN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743040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IN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IN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C65B1C7-55E5-487D-A9C0-F1D8E2777379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IN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743040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IN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IN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D619884-F425-42D2-94F3-F6599916BCDA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IN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743040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IN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IN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14D1438-8379-4C5E-9B43-5D4EA1B72D12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IN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buNone/>
            </a:pPr>
            <a:r>
              <a:rPr b="1" lang="en-US" sz="4000" strike="noStrike" u="non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IN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IN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B802FF7-5D81-4781-834E-6C26D5D21CD2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IN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743040" indent="-28584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743040" indent="-28584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7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IN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IN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C6457F1-EF01-4626-9B46-A5269DF3F1E5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IN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1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2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743040" indent="-28584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3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743040" indent="-28584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IN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IN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6999DF1-FD9F-46B1-B436-C383C4786C94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IN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IN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IN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B2B1F4E-AC42-46E3-B82C-92818F53646E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IN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IN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IN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3587D23-EEF6-4208-9327-99509F8E67D9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IN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4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6" name="PlaceHolder 5"/>
          <p:cNvSpPr>
            <a:spLocks noGrp="1"/>
          </p:cNvSpPr>
          <p:nvPr>
            <p:ph type="body"/>
          </p:nvPr>
        </p:nvSpPr>
        <p:spPr>
          <a:xfrm>
            <a:off x="914400" y="2406960"/>
            <a:ext cx="16458840" cy="596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buNone/>
            </a:pPr>
            <a:r>
              <a:rPr b="1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743040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1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IN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IN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F9B984D-AED3-4118-ACDB-533CFE475332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IN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buNone/>
            </a:pPr>
            <a:r>
              <a:rPr b="1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5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1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6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IN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IN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8555145-2FA3-48E2-A622-4E862A944D35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IN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9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2.png"/><Relationship Id="rId3" Type="http://schemas.openxmlformats.org/officeDocument/2006/relationships/image" Target="../media/image4.png"/><Relationship Id="rId4" Type="http://schemas.openxmlformats.org/officeDocument/2006/relationships/slideLayout" Target="../slideLayouts/slideLayout9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2.png"/><Relationship Id="rId3" Type="http://schemas.openxmlformats.org/officeDocument/2006/relationships/image" Target="../media/image4.png"/><Relationship Id="rId4" Type="http://schemas.openxmlformats.org/officeDocument/2006/relationships/slideLayout" Target="../slideLayouts/slideLayout9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2.png"/><Relationship Id="rId3" Type="http://schemas.openxmlformats.org/officeDocument/2006/relationships/image" Target="../media/image4.png"/><Relationship Id="rId4" Type="http://schemas.openxmlformats.org/officeDocument/2006/relationships/slideLayout" Target="../slideLayouts/slideLayout9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2.png"/><Relationship Id="rId3" Type="http://schemas.openxmlformats.org/officeDocument/2006/relationships/image" Target="../media/image4.png"/><Relationship Id="rId4" Type="http://schemas.openxmlformats.org/officeDocument/2006/relationships/slideLayout" Target="../slideLayouts/slideLayout9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2.png"/><Relationship Id="rId3" Type="http://schemas.openxmlformats.org/officeDocument/2006/relationships/image" Target="../media/image4.png"/><Relationship Id="rId4" Type="http://schemas.openxmlformats.org/officeDocument/2006/relationships/slideLayout" Target="../slideLayouts/slideLayout9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2.png"/><Relationship Id="rId3" Type="http://schemas.openxmlformats.org/officeDocument/2006/relationships/image" Target="../media/image4.png"/><Relationship Id="rId4" Type="http://schemas.openxmlformats.org/officeDocument/2006/relationships/slideLayout" Target="../slideLayouts/slideLayout9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2.png"/><Relationship Id="rId3" Type="http://schemas.openxmlformats.org/officeDocument/2006/relationships/image" Target="../media/image4.png"/><Relationship Id="rId4" Type="http://schemas.openxmlformats.org/officeDocument/2006/relationships/slideLayout" Target="../slideLayouts/slideLayout9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2.png"/><Relationship Id="rId3" Type="http://schemas.openxmlformats.org/officeDocument/2006/relationships/image" Target="../media/image4.png"/><Relationship Id="rId4" Type="http://schemas.openxmlformats.org/officeDocument/2006/relationships/slideLayout" Target="../slideLayouts/slideLayout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image" Target="../media/image6.png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slideLayout" Target="../slideLayouts/slideLayout9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2.png"/><Relationship Id="rId3" Type="http://schemas.openxmlformats.org/officeDocument/2006/relationships/image" Target="../media/image4.png"/><Relationship Id="rId4" Type="http://schemas.openxmlformats.org/officeDocument/2006/relationships/slideLayout" Target="../slideLayouts/slideLayout9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2.png"/><Relationship Id="rId3" Type="http://schemas.openxmlformats.org/officeDocument/2006/relationships/image" Target="../media/image4.png"/><Relationship Id="rId4" Type="http://schemas.openxmlformats.org/officeDocument/2006/relationships/slideLayout" Target="../slideLayouts/slideLayout9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2.png"/><Relationship Id="rId3" Type="http://schemas.openxmlformats.org/officeDocument/2006/relationships/image" Target="../media/image4.png"/><Relationship Id="rId4" Type="http://schemas.openxmlformats.org/officeDocument/2006/relationships/slideLayout" Target="../slideLayouts/slideLayout9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f4fbfe"/>
            </a:gs>
            <a:gs pos="74000">
              <a:srgbClr val="99daf3"/>
            </a:gs>
            <a:gs pos="83000">
              <a:srgbClr val="99daf3"/>
            </a:gs>
            <a:gs pos="100000">
              <a:srgbClr val="bbe6f7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AutoShape 2"/>
          <p:cNvSpPr/>
          <p:nvPr/>
        </p:nvSpPr>
        <p:spPr>
          <a:xfrm flipV="1">
            <a:off x="1128600" y="1215360"/>
            <a:ext cx="28440" cy="1400400"/>
          </a:xfrm>
          <a:prstGeom prst="line">
            <a:avLst/>
          </a:prstGeom>
          <a:ln cap="rnd" w="19050">
            <a:solidFill>
              <a:srgbClr val="1cade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60" name="Group 3"/>
          <p:cNvGrpSpPr/>
          <p:nvPr/>
        </p:nvGrpSpPr>
        <p:grpSpPr>
          <a:xfrm>
            <a:off x="-15120" y="0"/>
            <a:ext cx="6104520" cy="10286640"/>
            <a:chOff x="-15120" y="0"/>
            <a:chExt cx="6104520" cy="10286640"/>
          </a:xfrm>
        </p:grpSpPr>
        <p:sp>
          <p:nvSpPr>
            <p:cNvPr id="61" name="Freeform 4"/>
            <p:cNvSpPr/>
            <p:nvPr/>
          </p:nvSpPr>
          <p:spPr>
            <a:xfrm>
              <a:off x="-15120" y="0"/>
              <a:ext cx="6104520" cy="10286640"/>
            </a:xfrm>
            <a:custGeom>
              <a:avLst/>
              <a:gdLst>
                <a:gd name="textAreaLeft" fmla="*/ 0 w 6104520"/>
                <a:gd name="textAreaRight" fmla="*/ 6104880 w 6104520"/>
                <a:gd name="textAreaTop" fmla="*/ 0 h 10286640"/>
                <a:gd name="textAreaBottom" fmla="*/ 10287000 h 10286640"/>
              </a:gdLst>
              <a:ahLst/>
              <a:cxnLst/>
              <a:rect l="textAreaLeft" t="textAreaTop" r="textAreaRight" b="textAreaBottom"/>
              <a:pathLst>
                <a:path w="8139811" h="13716000">
                  <a:moveTo>
                    <a:pt x="0" y="0"/>
                  </a:moveTo>
                  <a:lnTo>
                    <a:pt x="8139811" y="0"/>
                  </a:lnTo>
                  <a:lnTo>
                    <a:pt x="8139811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cade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62" name="Group 5"/>
          <p:cNvGrpSpPr/>
          <p:nvPr/>
        </p:nvGrpSpPr>
        <p:grpSpPr>
          <a:xfrm>
            <a:off x="465120" y="1028880"/>
            <a:ext cx="5144400" cy="8419320"/>
            <a:chOff x="465120" y="1028880"/>
            <a:chExt cx="5144400" cy="8419320"/>
          </a:xfrm>
        </p:grpSpPr>
        <p:sp>
          <p:nvSpPr>
            <p:cNvPr id="63" name="Freeform 6"/>
            <p:cNvSpPr/>
            <p:nvPr/>
          </p:nvSpPr>
          <p:spPr>
            <a:xfrm>
              <a:off x="465120" y="1028880"/>
              <a:ext cx="5144400" cy="8419320"/>
            </a:xfrm>
            <a:custGeom>
              <a:avLst/>
              <a:gdLst>
                <a:gd name="textAreaLeft" fmla="*/ 0 w 5144400"/>
                <a:gd name="textAreaRight" fmla="*/ 5144760 w 5144400"/>
                <a:gd name="textAreaTop" fmla="*/ 0 h 8419320"/>
                <a:gd name="textAreaBottom" fmla="*/ 8419680 h 8419320"/>
              </a:gdLst>
              <a:ahLst/>
              <a:cxnLst/>
              <a:rect l="textAreaLeft" t="textAreaTop" r="textAreaRight" b="textAreaBottom"/>
              <a:pathLst>
                <a:path w="6859710" h="11226474">
                  <a:moveTo>
                    <a:pt x="0" y="0"/>
                  </a:moveTo>
                  <a:lnTo>
                    <a:pt x="6859710" y="0"/>
                  </a:lnTo>
                  <a:lnTo>
                    <a:pt x="6859710" y="11226474"/>
                  </a:lnTo>
                  <a:lnTo>
                    <a:pt x="0" y="11226474"/>
                  </a:lnTo>
                  <a:close/>
                </a:path>
              </a:pathLst>
            </a:custGeom>
            <a:blipFill rotWithShape="0">
              <a:blip r:embed="rId1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4" name="TextBox 7"/>
            <p:cNvSpPr/>
            <p:nvPr/>
          </p:nvSpPr>
          <p:spPr>
            <a:xfrm>
              <a:off x="465120" y="1143000"/>
              <a:ext cx="5144400" cy="8305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defTabSz="914400">
                <a:lnSpc>
                  <a:spcPts val="7200"/>
                </a:lnSpc>
              </a:pPr>
              <a:r>
                <a:rPr b="0" lang="en-US" sz="7500" spc="164" strike="noStrike" u="none">
                  <a:solidFill>
                    <a:srgbClr val="ffffff"/>
                  </a:solidFill>
                  <a:effectLst/>
                  <a:uFillTx/>
                  <a:latin typeface="Big Shoulders Display"/>
                  <a:ea typeface="Big Shoulders Display"/>
                </a:rPr>
                <a:t>JAVA Programming Project Presentation</a:t>
              </a:r>
              <a:endParaRPr b="0" lang="en-IN" sz="75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65" name="TextBox 8"/>
          <p:cNvSpPr/>
          <p:nvPr/>
        </p:nvSpPr>
        <p:spPr>
          <a:xfrm>
            <a:off x="7095600" y="3214800"/>
            <a:ext cx="10666440" cy="220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2917"/>
              </a:lnSpc>
            </a:pP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488520" indent="-244440" defTabSz="914400">
              <a:lnSpc>
                <a:spcPts val="2917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27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Project Title: Super market checkout and discount billing system</a:t>
            </a:r>
            <a:endParaRPr b="0" lang="en-IN" sz="2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488520" indent="-244440" defTabSz="914400">
              <a:lnSpc>
                <a:spcPts val="2917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27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Course: java programming Programming Lab </a:t>
            </a:r>
            <a:endParaRPr b="0" lang="en-IN" sz="2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488520" indent="-244440" defTabSz="914400">
              <a:lnSpc>
                <a:spcPts val="2917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27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Student Name &amp; Roll No: Harshini.M 25bcs023</a:t>
            </a:r>
            <a:endParaRPr b="0" lang="en-IN" sz="2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488520" indent="-244440" defTabSz="914400">
              <a:lnSpc>
                <a:spcPts val="2917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27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Department: Computer Science </a:t>
            </a:r>
            <a:endParaRPr b="0" lang="en-IN" sz="2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488520" indent="-244440" defTabSz="914400">
              <a:lnSpc>
                <a:spcPts val="2917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27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Mentor / Guide:Dr.Hemalatha Kanagaraj</a:t>
            </a:r>
            <a:endParaRPr b="0" lang="en-IN" sz="2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66" name="Group 9"/>
          <p:cNvGrpSpPr/>
          <p:nvPr/>
        </p:nvGrpSpPr>
        <p:grpSpPr>
          <a:xfrm>
            <a:off x="7049880" y="349920"/>
            <a:ext cx="10115640" cy="2528640"/>
            <a:chOff x="7049880" y="349920"/>
            <a:chExt cx="10115640" cy="2528640"/>
          </a:xfrm>
        </p:grpSpPr>
        <p:sp>
          <p:nvSpPr>
            <p:cNvPr id="67" name="Freeform 10" descr="A blue and red logo  AI-generated content may be incorrect."/>
            <p:cNvSpPr/>
            <p:nvPr/>
          </p:nvSpPr>
          <p:spPr>
            <a:xfrm>
              <a:off x="7049880" y="349920"/>
              <a:ext cx="10115640" cy="2528640"/>
            </a:xfrm>
            <a:custGeom>
              <a:avLst/>
              <a:gdLst>
                <a:gd name="textAreaLeft" fmla="*/ 0 w 10115640"/>
                <a:gd name="textAreaRight" fmla="*/ 10116000 w 10115640"/>
                <a:gd name="textAreaTop" fmla="*/ 0 h 2528640"/>
                <a:gd name="textAreaBottom" fmla="*/ 2529000 h 2528640"/>
              </a:gdLst>
              <a:ahLst/>
              <a:cxnLst/>
              <a:rect l="textAreaLeft" t="textAreaTop" r="textAreaRight" b="textAreaBottom"/>
              <a:pathLst>
                <a:path w="13487781" h="3371977">
                  <a:moveTo>
                    <a:pt x="0" y="0"/>
                  </a:moveTo>
                  <a:lnTo>
                    <a:pt x="13487781" y="0"/>
                  </a:lnTo>
                  <a:lnTo>
                    <a:pt x="13487781" y="3371977"/>
                  </a:lnTo>
                  <a:lnTo>
                    <a:pt x="0" y="3371977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2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f4fbfe"/>
            </a:gs>
            <a:gs pos="74000">
              <a:srgbClr val="99daf3"/>
            </a:gs>
            <a:gs pos="83000">
              <a:srgbClr val="99daf3"/>
            </a:gs>
            <a:gs pos="100000">
              <a:srgbClr val="bbe6f7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AutoShape 2"/>
          <p:cNvSpPr/>
          <p:nvPr/>
        </p:nvSpPr>
        <p:spPr>
          <a:xfrm flipV="1">
            <a:off x="1128600" y="1215360"/>
            <a:ext cx="28440" cy="1400400"/>
          </a:xfrm>
          <a:prstGeom prst="line">
            <a:avLst/>
          </a:prstGeom>
          <a:ln cap="rnd" w="19050">
            <a:solidFill>
              <a:srgbClr val="1cade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69" name="Group 3"/>
          <p:cNvGrpSpPr/>
          <p:nvPr/>
        </p:nvGrpSpPr>
        <p:grpSpPr>
          <a:xfrm>
            <a:off x="0" y="0"/>
            <a:ext cx="18287640" cy="10286640"/>
            <a:chOff x="0" y="0"/>
            <a:chExt cx="18287640" cy="10286640"/>
          </a:xfrm>
        </p:grpSpPr>
        <p:sp>
          <p:nvSpPr>
            <p:cNvPr id="70" name="Freeform 4"/>
            <p:cNvSpPr/>
            <p:nvPr/>
          </p:nvSpPr>
          <p:spPr>
            <a:xfrm>
              <a:off x="0" y="0"/>
              <a:ext cx="18287640" cy="10286640"/>
            </a:xfrm>
            <a:custGeom>
              <a:avLst/>
              <a:gdLst>
                <a:gd name="textAreaLeft" fmla="*/ 0 w 18287640"/>
                <a:gd name="textAreaRight" fmla="*/ 18288000 w 18287640"/>
                <a:gd name="textAreaTop" fmla="*/ 0 h 10286640"/>
                <a:gd name="textAreaBottom" fmla="*/ 10287000 h 10286640"/>
              </a:gdLst>
              <a:ahLst/>
              <a:cxnLst/>
              <a:rect l="textAreaLeft" t="textAreaTop" r="textAreaRight" b="textAreaBottom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71" name="Group 5"/>
          <p:cNvGrpSpPr/>
          <p:nvPr/>
        </p:nvGrpSpPr>
        <p:grpSpPr>
          <a:xfrm>
            <a:off x="4159080" y="726840"/>
            <a:ext cx="13421880" cy="8821080"/>
            <a:chOff x="4159080" y="726840"/>
            <a:chExt cx="13421880" cy="8821080"/>
          </a:xfrm>
        </p:grpSpPr>
        <p:sp>
          <p:nvSpPr>
            <p:cNvPr id="72" name="Freeform 6"/>
            <p:cNvSpPr/>
            <p:nvPr/>
          </p:nvSpPr>
          <p:spPr>
            <a:xfrm>
              <a:off x="4159080" y="726840"/>
              <a:ext cx="13421880" cy="8821080"/>
            </a:xfrm>
            <a:custGeom>
              <a:avLst/>
              <a:gdLst>
                <a:gd name="textAreaLeft" fmla="*/ 0 w 13421880"/>
                <a:gd name="textAreaRight" fmla="*/ 13422240 w 13421880"/>
                <a:gd name="textAreaTop" fmla="*/ 0 h 8821080"/>
                <a:gd name="textAreaBottom" fmla="*/ 8821440 h 8821080"/>
              </a:gdLst>
              <a:ahLst/>
              <a:cxnLst/>
              <a:rect l="textAreaLeft" t="textAreaTop" r="textAreaRight" b="textAreaBottom"/>
              <a:pathLst>
                <a:path w="17896332" h="11761851">
                  <a:moveTo>
                    <a:pt x="0" y="0"/>
                  </a:moveTo>
                  <a:lnTo>
                    <a:pt x="17896332" y="0"/>
                  </a:lnTo>
                  <a:lnTo>
                    <a:pt x="17896332" y="11761851"/>
                  </a:lnTo>
                  <a:lnTo>
                    <a:pt x="0" y="11761851"/>
                  </a:lnTo>
                  <a:close/>
                </a:path>
              </a:pathLst>
            </a:custGeom>
            <a:solidFill>
              <a:srgbClr val="40404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IN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73" name="Group 7"/>
          <p:cNvGrpSpPr/>
          <p:nvPr/>
        </p:nvGrpSpPr>
        <p:grpSpPr>
          <a:xfrm>
            <a:off x="5204160" y="1182600"/>
            <a:ext cx="11884680" cy="2249280"/>
            <a:chOff x="5204160" y="1182600"/>
            <a:chExt cx="11884680" cy="2249280"/>
          </a:xfrm>
        </p:grpSpPr>
        <p:sp>
          <p:nvSpPr>
            <p:cNvPr id="74" name="Freeform 8"/>
            <p:cNvSpPr/>
            <p:nvPr/>
          </p:nvSpPr>
          <p:spPr>
            <a:xfrm>
              <a:off x="5204160" y="1182600"/>
              <a:ext cx="11884680" cy="2248920"/>
            </a:xfrm>
            <a:custGeom>
              <a:avLst/>
              <a:gdLst>
                <a:gd name="textAreaLeft" fmla="*/ 0 w 11884680"/>
                <a:gd name="textAreaRight" fmla="*/ 11885040 w 11884680"/>
                <a:gd name="textAreaTop" fmla="*/ 0 h 2248920"/>
                <a:gd name="textAreaBottom" fmla="*/ 2249280 h 2248920"/>
              </a:gdLst>
              <a:ahLst/>
              <a:cxnLst/>
              <a:rect l="textAreaLeft" t="textAreaTop" r="textAreaRight" b="textAreaBottom"/>
              <a:pathLst>
                <a:path w="15846529" h="2999232">
                  <a:moveTo>
                    <a:pt x="0" y="0"/>
                  </a:moveTo>
                  <a:lnTo>
                    <a:pt x="15846529" y="0"/>
                  </a:lnTo>
                  <a:lnTo>
                    <a:pt x="15846529" y="2999232"/>
                  </a:lnTo>
                  <a:lnTo>
                    <a:pt x="0" y="2999232"/>
                  </a:lnTo>
                  <a:close/>
                </a:path>
              </a:pathLst>
            </a:custGeom>
            <a:blipFill rotWithShape="0">
              <a:blip r:embed="rId1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5" name="TextBox 9"/>
            <p:cNvSpPr/>
            <p:nvPr/>
          </p:nvSpPr>
          <p:spPr>
            <a:xfrm>
              <a:off x="5204160" y="1297080"/>
              <a:ext cx="11884680" cy="21348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defTabSz="914400">
                <a:lnSpc>
                  <a:spcPts val="7200"/>
                </a:lnSpc>
              </a:pPr>
              <a:r>
                <a:rPr b="0" lang="en-US" sz="7500" spc="164" strike="noStrike" u="none">
                  <a:solidFill>
                    <a:srgbClr val="ffffff"/>
                  </a:solidFill>
                  <a:effectLst/>
                  <a:uFillTx/>
                  <a:latin typeface="Big Shoulders Display"/>
                  <a:ea typeface="Big Shoulders Display"/>
                </a:rPr>
                <a:t>Introduction</a:t>
              </a:r>
              <a:endParaRPr b="0" lang="en-IN" sz="75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76" name="Group 10"/>
          <p:cNvGrpSpPr/>
          <p:nvPr/>
        </p:nvGrpSpPr>
        <p:grpSpPr>
          <a:xfrm>
            <a:off x="712800" y="726840"/>
            <a:ext cx="3193200" cy="8821080"/>
            <a:chOff x="712800" y="726840"/>
            <a:chExt cx="3193200" cy="8821080"/>
          </a:xfrm>
        </p:grpSpPr>
        <p:sp>
          <p:nvSpPr>
            <p:cNvPr id="77" name="Freeform 11"/>
            <p:cNvSpPr/>
            <p:nvPr/>
          </p:nvSpPr>
          <p:spPr>
            <a:xfrm>
              <a:off x="712800" y="726840"/>
              <a:ext cx="3193200" cy="8821080"/>
            </a:xfrm>
            <a:custGeom>
              <a:avLst/>
              <a:gdLst>
                <a:gd name="textAreaLeft" fmla="*/ 0 w 3193200"/>
                <a:gd name="textAreaRight" fmla="*/ 3193560 w 3193200"/>
                <a:gd name="textAreaTop" fmla="*/ 0 h 8821080"/>
                <a:gd name="textAreaBottom" fmla="*/ 8821440 h 8821080"/>
              </a:gdLst>
              <a:ahLst/>
              <a:cxnLst/>
              <a:rect l="textAreaLeft" t="textAreaTop" r="textAreaRight" b="textAreaBottom"/>
              <a:pathLst>
                <a:path w="4257929" h="11761851">
                  <a:moveTo>
                    <a:pt x="0" y="0"/>
                  </a:moveTo>
                  <a:lnTo>
                    <a:pt x="4257929" y="0"/>
                  </a:lnTo>
                  <a:lnTo>
                    <a:pt x="4257929" y="11761851"/>
                  </a:lnTo>
                  <a:lnTo>
                    <a:pt x="0" y="11761851"/>
                  </a:lnTo>
                  <a:close/>
                </a:path>
              </a:pathLst>
            </a:custGeom>
            <a:solidFill>
              <a:srgbClr val="1cade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78" name="AutoShape 12"/>
          <p:cNvSpPr/>
          <p:nvPr/>
        </p:nvSpPr>
        <p:spPr>
          <a:xfrm flipV="1">
            <a:off x="4796280" y="1520280"/>
            <a:ext cx="28800" cy="1400040"/>
          </a:xfrm>
          <a:prstGeom prst="line">
            <a:avLst/>
          </a:prstGeom>
          <a:ln cap="rnd" w="19050">
            <a:solidFill>
              <a:srgbClr val="1cade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TextBox 13"/>
          <p:cNvSpPr/>
          <p:nvPr/>
        </p:nvSpPr>
        <p:spPr>
          <a:xfrm>
            <a:off x="5249880" y="3789000"/>
            <a:ext cx="11793240" cy="473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2917"/>
              </a:lnSpc>
            </a:pPr>
            <a:r>
              <a:rPr b="0" lang="en-US" sz="27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This project is a billing system for supermarkets developed using Java Swing GUI.</a:t>
            </a:r>
            <a:endParaRPr b="0" lang="en-IN" sz="2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917"/>
              </a:lnSpc>
            </a:pPr>
            <a:r>
              <a:rPr b="0" lang="en-US" sz="27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It helps to:</a:t>
            </a:r>
            <a:endParaRPr b="0" lang="en-IN" sz="2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582840" indent="-291600" defTabSz="914400">
              <a:lnSpc>
                <a:spcPts val="2917"/>
              </a:lnSpc>
              <a:buClr>
                <a:srgbClr val="ffffff"/>
              </a:buClr>
              <a:buFont typeface="Arial"/>
              <a:buChar char="•"/>
            </a:pPr>
            <a:r>
              <a:rPr b="0" lang="en-US" sz="27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Scan product using barcode</a:t>
            </a:r>
            <a:endParaRPr b="0" lang="en-IN" sz="2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582840" indent="-291600" defTabSz="914400">
              <a:lnSpc>
                <a:spcPts val="2917"/>
              </a:lnSpc>
              <a:buClr>
                <a:srgbClr val="ffffff"/>
              </a:buClr>
              <a:buFont typeface="Arial"/>
              <a:buChar char="•"/>
            </a:pPr>
            <a:r>
              <a:rPr b="0" lang="en-US" sz="27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Automatically fetch product details</a:t>
            </a:r>
            <a:endParaRPr b="0" lang="en-IN" sz="2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582840" indent="-291600" defTabSz="914400">
              <a:lnSpc>
                <a:spcPts val="2917"/>
              </a:lnSpc>
              <a:buClr>
                <a:srgbClr val="ffffff"/>
              </a:buClr>
              <a:buFont typeface="Arial"/>
              <a:buChar char="•"/>
            </a:pPr>
            <a:r>
              <a:rPr b="0" lang="en-US" sz="27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Calculate total bill</a:t>
            </a:r>
            <a:endParaRPr b="0" lang="en-IN" sz="2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582840" indent="-291600" defTabSz="914400">
              <a:lnSpc>
                <a:spcPts val="2917"/>
              </a:lnSpc>
              <a:buClr>
                <a:srgbClr val="ffffff"/>
              </a:buClr>
              <a:buFont typeface="Arial"/>
              <a:buChar char="•"/>
            </a:pPr>
            <a:r>
              <a:rPr b="0" lang="en-US" sz="27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Apply discount</a:t>
            </a:r>
            <a:endParaRPr b="0" lang="en-IN" sz="2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582840" indent="-291600" defTabSz="914400">
              <a:lnSpc>
                <a:spcPts val="2917"/>
              </a:lnSpc>
              <a:buClr>
                <a:srgbClr val="ffffff"/>
              </a:buClr>
              <a:buFont typeface="Arial"/>
              <a:buChar char="•"/>
            </a:pPr>
            <a:r>
              <a:rPr b="0" lang="en-US" sz="27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Generate final bill</a:t>
            </a:r>
            <a:endParaRPr b="0" lang="en-IN" sz="2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917"/>
              </a:lnSpc>
            </a:pPr>
            <a:r>
              <a:rPr b="0" lang="en-US" sz="27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Purpose:</a:t>
            </a:r>
            <a:endParaRPr b="0" lang="en-IN" sz="2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917"/>
              </a:lnSpc>
            </a:pPr>
            <a:r>
              <a:rPr b="0" lang="en-US" sz="27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 To reduce manual billing work and improve accuracy.</a:t>
            </a:r>
            <a:endParaRPr b="0" lang="en-IN" sz="2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917"/>
              </a:lnSpc>
            </a:pPr>
            <a:r>
              <a:rPr b="0" lang="en-US" sz="27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Real-life use:</a:t>
            </a:r>
            <a:endParaRPr b="0" lang="en-IN" sz="2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917"/>
              </a:lnSpc>
            </a:pPr>
            <a:r>
              <a:rPr b="0" lang="en-US" sz="27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 Used in supermarkets, grocery stores, and retail shops.</a:t>
            </a:r>
            <a:endParaRPr b="0" lang="en-IN" sz="2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917"/>
              </a:lnSpc>
            </a:pP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80" name="Group 14"/>
          <p:cNvGrpSpPr/>
          <p:nvPr/>
        </p:nvGrpSpPr>
        <p:grpSpPr>
          <a:xfrm>
            <a:off x="849600" y="982080"/>
            <a:ext cx="2816640" cy="703800"/>
            <a:chOff x="849600" y="982080"/>
            <a:chExt cx="2816640" cy="703800"/>
          </a:xfrm>
        </p:grpSpPr>
        <p:sp>
          <p:nvSpPr>
            <p:cNvPr id="81" name="Freeform 15" descr="A blue and red logo  AI-generated content may be incorrect."/>
            <p:cNvSpPr/>
            <p:nvPr/>
          </p:nvSpPr>
          <p:spPr>
            <a:xfrm>
              <a:off x="849600" y="982080"/>
              <a:ext cx="2816640" cy="703800"/>
            </a:xfrm>
            <a:custGeom>
              <a:avLst/>
              <a:gdLst>
                <a:gd name="textAreaLeft" fmla="*/ 0 w 2816640"/>
                <a:gd name="textAreaRight" fmla="*/ 2817000 w 2816640"/>
                <a:gd name="textAreaTop" fmla="*/ 0 h 703800"/>
                <a:gd name="textAreaBottom" fmla="*/ 704160 h 703800"/>
              </a:gdLst>
              <a:ahLst/>
              <a:cxnLst/>
              <a:rect l="textAreaLeft" t="textAreaTop" r="textAreaRight" b="textAreaBottom"/>
              <a:pathLst>
                <a:path w="3756025" h="939038">
                  <a:moveTo>
                    <a:pt x="0" y="0"/>
                  </a:moveTo>
                  <a:lnTo>
                    <a:pt x="3756025" y="0"/>
                  </a:lnTo>
                  <a:lnTo>
                    <a:pt x="3756025" y="939038"/>
                  </a:lnTo>
                  <a:lnTo>
                    <a:pt x="0" y="939038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2"/>
              <a:srcRect/>
              <a:stretch>
                <a:fillRect r="-33333" b="-33350"/>
              </a:stretch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82" name="Group 16"/>
          <p:cNvGrpSpPr/>
          <p:nvPr/>
        </p:nvGrpSpPr>
        <p:grpSpPr>
          <a:xfrm>
            <a:off x="849600" y="884880"/>
            <a:ext cx="2816640" cy="8419680"/>
            <a:chOff x="849600" y="884880"/>
            <a:chExt cx="2816640" cy="8419680"/>
          </a:xfrm>
        </p:grpSpPr>
        <p:sp>
          <p:nvSpPr>
            <p:cNvPr id="83" name="Freeform 17"/>
            <p:cNvSpPr/>
            <p:nvPr/>
          </p:nvSpPr>
          <p:spPr>
            <a:xfrm>
              <a:off x="849600" y="884880"/>
              <a:ext cx="2816640" cy="8419320"/>
            </a:xfrm>
            <a:custGeom>
              <a:avLst/>
              <a:gdLst>
                <a:gd name="textAreaLeft" fmla="*/ 0 w 2816640"/>
                <a:gd name="textAreaRight" fmla="*/ 2817000 w 2816640"/>
                <a:gd name="textAreaTop" fmla="*/ 0 h 8419320"/>
                <a:gd name="textAreaBottom" fmla="*/ 8419680 h 8419320"/>
              </a:gdLst>
              <a:ahLst/>
              <a:cxnLst/>
              <a:rect l="textAreaLeft" t="textAreaTop" r="textAreaRight" b="textAreaBottom"/>
              <a:pathLst>
                <a:path w="3755980" h="11226474">
                  <a:moveTo>
                    <a:pt x="0" y="0"/>
                  </a:moveTo>
                  <a:lnTo>
                    <a:pt x="3755980" y="0"/>
                  </a:lnTo>
                  <a:lnTo>
                    <a:pt x="3755980" y="11226474"/>
                  </a:lnTo>
                  <a:lnTo>
                    <a:pt x="0" y="11226474"/>
                  </a:lnTo>
                  <a:close/>
                </a:path>
              </a:pathLst>
            </a:custGeom>
            <a:blipFill rotWithShape="0">
              <a:blip r:embed="rId3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4" name="TextBox 18"/>
            <p:cNvSpPr/>
            <p:nvPr/>
          </p:nvSpPr>
          <p:spPr>
            <a:xfrm>
              <a:off x="849600" y="934920"/>
              <a:ext cx="2816640" cy="83696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defTabSz="914400">
                <a:lnSpc>
                  <a:spcPts val="2880"/>
                </a:lnSpc>
              </a:pPr>
              <a:r>
                <a:rPr b="0" lang="en-US" sz="3000" spc="156" strike="noStrike" u="none">
                  <a:solidFill>
                    <a:srgbClr val="ffffff"/>
                  </a:solidFill>
                  <a:effectLst/>
                  <a:uFillTx/>
                  <a:latin typeface="Big Shoulders Display"/>
                  <a:ea typeface="Big Shoulders Display"/>
                </a:rPr>
                <a:t>JAVA Programming Project Presentation</a:t>
              </a:r>
              <a:endParaRPr b="0" lang="en-IN" sz="30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f4fbfe"/>
            </a:gs>
            <a:gs pos="74000">
              <a:srgbClr val="99daf3"/>
            </a:gs>
            <a:gs pos="83000">
              <a:srgbClr val="99daf3"/>
            </a:gs>
            <a:gs pos="100000">
              <a:srgbClr val="bbe6f7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AutoShape 2"/>
          <p:cNvSpPr/>
          <p:nvPr/>
        </p:nvSpPr>
        <p:spPr>
          <a:xfrm flipV="1">
            <a:off x="1128600" y="1215360"/>
            <a:ext cx="28440" cy="1400400"/>
          </a:xfrm>
          <a:prstGeom prst="line">
            <a:avLst/>
          </a:prstGeom>
          <a:ln cap="rnd" w="19050">
            <a:solidFill>
              <a:srgbClr val="1cade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86" name="Group 3"/>
          <p:cNvGrpSpPr/>
          <p:nvPr/>
        </p:nvGrpSpPr>
        <p:grpSpPr>
          <a:xfrm>
            <a:off x="0" y="0"/>
            <a:ext cx="18287640" cy="10286640"/>
            <a:chOff x="0" y="0"/>
            <a:chExt cx="18287640" cy="10286640"/>
          </a:xfrm>
        </p:grpSpPr>
        <p:sp>
          <p:nvSpPr>
            <p:cNvPr id="87" name="Freeform 4"/>
            <p:cNvSpPr/>
            <p:nvPr/>
          </p:nvSpPr>
          <p:spPr>
            <a:xfrm>
              <a:off x="0" y="0"/>
              <a:ext cx="18287640" cy="10286640"/>
            </a:xfrm>
            <a:custGeom>
              <a:avLst/>
              <a:gdLst>
                <a:gd name="textAreaLeft" fmla="*/ 0 w 18287640"/>
                <a:gd name="textAreaRight" fmla="*/ 18288000 w 18287640"/>
                <a:gd name="textAreaTop" fmla="*/ 0 h 10286640"/>
                <a:gd name="textAreaBottom" fmla="*/ 10287000 h 10286640"/>
              </a:gdLst>
              <a:ahLst/>
              <a:cxnLst/>
              <a:rect l="textAreaLeft" t="textAreaTop" r="textAreaRight" b="textAreaBottom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88" name="Group 5"/>
          <p:cNvGrpSpPr/>
          <p:nvPr/>
        </p:nvGrpSpPr>
        <p:grpSpPr>
          <a:xfrm>
            <a:off x="4159080" y="726840"/>
            <a:ext cx="13421880" cy="8821080"/>
            <a:chOff x="4159080" y="726840"/>
            <a:chExt cx="13421880" cy="8821080"/>
          </a:xfrm>
        </p:grpSpPr>
        <p:sp>
          <p:nvSpPr>
            <p:cNvPr id="89" name="Freeform 6"/>
            <p:cNvSpPr/>
            <p:nvPr/>
          </p:nvSpPr>
          <p:spPr>
            <a:xfrm>
              <a:off x="4159080" y="726840"/>
              <a:ext cx="13421880" cy="8821080"/>
            </a:xfrm>
            <a:custGeom>
              <a:avLst/>
              <a:gdLst>
                <a:gd name="textAreaLeft" fmla="*/ 0 w 13421880"/>
                <a:gd name="textAreaRight" fmla="*/ 13422240 w 13421880"/>
                <a:gd name="textAreaTop" fmla="*/ 0 h 8821080"/>
                <a:gd name="textAreaBottom" fmla="*/ 8821440 h 8821080"/>
              </a:gdLst>
              <a:ahLst/>
              <a:cxnLst/>
              <a:rect l="textAreaLeft" t="textAreaTop" r="textAreaRight" b="textAreaBottom"/>
              <a:pathLst>
                <a:path w="17896332" h="11761851">
                  <a:moveTo>
                    <a:pt x="0" y="0"/>
                  </a:moveTo>
                  <a:lnTo>
                    <a:pt x="17896332" y="0"/>
                  </a:lnTo>
                  <a:lnTo>
                    <a:pt x="17896332" y="11761851"/>
                  </a:lnTo>
                  <a:lnTo>
                    <a:pt x="0" y="11761851"/>
                  </a:lnTo>
                  <a:close/>
                </a:path>
              </a:pathLst>
            </a:custGeom>
            <a:solidFill>
              <a:srgbClr val="40404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IN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90" name="Group 7"/>
          <p:cNvGrpSpPr/>
          <p:nvPr/>
        </p:nvGrpSpPr>
        <p:grpSpPr>
          <a:xfrm>
            <a:off x="5204160" y="1182600"/>
            <a:ext cx="11884680" cy="2249280"/>
            <a:chOff x="5204160" y="1182600"/>
            <a:chExt cx="11884680" cy="2249280"/>
          </a:xfrm>
        </p:grpSpPr>
        <p:sp>
          <p:nvSpPr>
            <p:cNvPr id="91" name="Freeform 8"/>
            <p:cNvSpPr/>
            <p:nvPr/>
          </p:nvSpPr>
          <p:spPr>
            <a:xfrm>
              <a:off x="5204160" y="1182600"/>
              <a:ext cx="11884680" cy="2248920"/>
            </a:xfrm>
            <a:custGeom>
              <a:avLst/>
              <a:gdLst>
                <a:gd name="textAreaLeft" fmla="*/ 0 w 11884680"/>
                <a:gd name="textAreaRight" fmla="*/ 11885040 w 11884680"/>
                <a:gd name="textAreaTop" fmla="*/ 0 h 2248920"/>
                <a:gd name="textAreaBottom" fmla="*/ 2249280 h 2248920"/>
              </a:gdLst>
              <a:ahLst/>
              <a:cxnLst/>
              <a:rect l="textAreaLeft" t="textAreaTop" r="textAreaRight" b="textAreaBottom"/>
              <a:pathLst>
                <a:path w="15846529" h="2999232">
                  <a:moveTo>
                    <a:pt x="0" y="0"/>
                  </a:moveTo>
                  <a:lnTo>
                    <a:pt x="15846529" y="0"/>
                  </a:lnTo>
                  <a:lnTo>
                    <a:pt x="15846529" y="2999232"/>
                  </a:lnTo>
                  <a:lnTo>
                    <a:pt x="0" y="2999232"/>
                  </a:lnTo>
                  <a:close/>
                </a:path>
              </a:pathLst>
            </a:custGeom>
            <a:blipFill rotWithShape="0">
              <a:blip r:embed="rId1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2" name="TextBox 9"/>
            <p:cNvSpPr/>
            <p:nvPr/>
          </p:nvSpPr>
          <p:spPr>
            <a:xfrm>
              <a:off x="5204160" y="1297080"/>
              <a:ext cx="11884680" cy="21348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defTabSz="914400">
                <a:lnSpc>
                  <a:spcPts val="7200"/>
                </a:lnSpc>
              </a:pPr>
              <a:r>
                <a:rPr b="0" lang="en-US" sz="7500" spc="164" strike="noStrike" u="none">
                  <a:solidFill>
                    <a:srgbClr val="ffffff"/>
                  </a:solidFill>
                  <a:effectLst/>
                  <a:uFillTx/>
                  <a:latin typeface="Big Shoulders Display"/>
                  <a:ea typeface="Big Shoulders Display"/>
                </a:rPr>
                <a:t>Objective</a:t>
              </a:r>
              <a:endParaRPr b="0" lang="en-IN" sz="75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93" name="Group 10"/>
          <p:cNvGrpSpPr/>
          <p:nvPr/>
        </p:nvGrpSpPr>
        <p:grpSpPr>
          <a:xfrm>
            <a:off x="712800" y="726840"/>
            <a:ext cx="3193200" cy="8821080"/>
            <a:chOff x="712800" y="726840"/>
            <a:chExt cx="3193200" cy="8821080"/>
          </a:xfrm>
        </p:grpSpPr>
        <p:sp>
          <p:nvSpPr>
            <p:cNvPr id="94" name="Freeform 11"/>
            <p:cNvSpPr/>
            <p:nvPr/>
          </p:nvSpPr>
          <p:spPr>
            <a:xfrm>
              <a:off x="712800" y="726840"/>
              <a:ext cx="3193200" cy="8821080"/>
            </a:xfrm>
            <a:custGeom>
              <a:avLst/>
              <a:gdLst>
                <a:gd name="textAreaLeft" fmla="*/ 0 w 3193200"/>
                <a:gd name="textAreaRight" fmla="*/ 3193560 w 3193200"/>
                <a:gd name="textAreaTop" fmla="*/ 0 h 8821080"/>
                <a:gd name="textAreaBottom" fmla="*/ 8821440 h 8821080"/>
              </a:gdLst>
              <a:ahLst/>
              <a:cxnLst/>
              <a:rect l="textAreaLeft" t="textAreaTop" r="textAreaRight" b="textAreaBottom"/>
              <a:pathLst>
                <a:path w="4257929" h="11761851">
                  <a:moveTo>
                    <a:pt x="0" y="0"/>
                  </a:moveTo>
                  <a:lnTo>
                    <a:pt x="4257929" y="0"/>
                  </a:lnTo>
                  <a:lnTo>
                    <a:pt x="4257929" y="11761851"/>
                  </a:lnTo>
                  <a:lnTo>
                    <a:pt x="0" y="11761851"/>
                  </a:lnTo>
                  <a:close/>
                </a:path>
              </a:pathLst>
            </a:custGeom>
            <a:solidFill>
              <a:srgbClr val="1cade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95" name="AutoShape 12"/>
          <p:cNvSpPr/>
          <p:nvPr/>
        </p:nvSpPr>
        <p:spPr>
          <a:xfrm flipV="1">
            <a:off x="4796280" y="1520280"/>
            <a:ext cx="28800" cy="1400040"/>
          </a:xfrm>
          <a:prstGeom prst="line">
            <a:avLst/>
          </a:prstGeom>
          <a:ln cap="rnd" w="19050">
            <a:solidFill>
              <a:srgbClr val="1cade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TextBox 13"/>
          <p:cNvSpPr/>
          <p:nvPr/>
        </p:nvSpPr>
        <p:spPr>
          <a:xfrm>
            <a:off x="5249880" y="3789000"/>
            <a:ext cx="11793240" cy="29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2917"/>
              </a:lnSpc>
            </a:pPr>
            <a:r>
              <a:rPr b="0" lang="en-US" sz="27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Main goals of the project:</a:t>
            </a:r>
            <a:endParaRPr b="0" lang="en-IN" sz="2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582840" indent="-291600" defTabSz="914400">
              <a:lnSpc>
                <a:spcPts val="2917"/>
              </a:lnSpc>
              <a:buClr>
                <a:srgbClr val="ffffff"/>
              </a:buClr>
              <a:buFont typeface="Arial"/>
              <a:buChar char="•"/>
            </a:pPr>
            <a:r>
              <a:rPr b="0" lang="en-US" sz="27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To design a GUI-based billing system</a:t>
            </a:r>
            <a:endParaRPr b="0" lang="en-IN" sz="2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582840" indent="-291600" defTabSz="914400">
              <a:lnSpc>
                <a:spcPts val="2917"/>
              </a:lnSpc>
              <a:buClr>
                <a:srgbClr val="ffffff"/>
              </a:buClr>
              <a:buFont typeface="Arial"/>
              <a:buChar char="•"/>
            </a:pPr>
            <a:r>
              <a:rPr b="0" lang="en-US" sz="27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To implement barcode scanning logic</a:t>
            </a:r>
            <a:endParaRPr b="0" lang="en-IN" sz="2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582840" indent="-291600" defTabSz="914400">
              <a:lnSpc>
                <a:spcPts val="2917"/>
              </a:lnSpc>
              <a:buClr>
                <a:srgbClr val="ffffff"/>
              </a:buClr>
              <a:buFont typeface="Arial"/>
              <a:buChar char="•"/>
            </a:pPr>
            <a:r>
              <a:rPr b="0" lang="en-US" sz="27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To calculate total price automatically</a:t>
            </a:r>
            <a:endParaRPr b="0" lang="en-IN" sz="2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582840" indent="-291600" defTabSz="914400">
              <a:lnSpc>
                <a:spcPts val="2917"/>
              </a:lnSpc>
              <a:buClr>
                <a:srgbClr val="ffffff"/>
              </a:buClr>
              <a:buFont typeface="Arial"/>
              <a:buChar char="•"/>
            </a:pPr>
            <a:r>
              <a:rPr b="0" lang="en-US" sz="27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To apply discount percentage</a:t>
            </a:r>
            <a:endParaRPr b="0" lang="en-IN" sz="2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582840" indent="-291600" defTabSz="914400">
              <a:lnSpc>
                <a:spcPts val="2917"/>
              </a:lnSpc>
              <a:buClr>
                <a:srgbClr val="ffffff"/>
              </a:buClr>
              <a:buFont typeface="Arial"/>
              <a:buChar char="•"/>
            </a:pPr>
            <a:r>
              <a:rPr b="0" lang="en-US" sz="27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To generate final bill summary</a:t>
            </a:r>
            <a:endParaRPr b="0" lang="en-IN" sz="2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582840" indent="-291600" defTabSz="914400">
              <a:lnSpc>
                <a:spcPts val="2917"/>
              </a:lnSpc>
              <a:buClr>
                <a:srgbClr val="ffffff"/>
              </a:buClr>
              <a:buFont typeface="Arial"/>
              <a:buChar char="•"/>
            </a:pPr>
            <a:r>
              <a:rPr b="0" lang="en-US" sz="27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To improve programming &amp; problem-solving skills</a:t>
            </a:r>
            <a:endParaRPr b="0" lang="en-IN" sz="2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917"/>
              </a:lnSpc>
            </a:pP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97" name="Group 14"/>
          <p:cNvGrpSpPr/>
          <p:nvPr/>
        </p:nvGrpSpPr>
        <p:grpSpPr>
          <a:xfrm>
            <a:off x="849600" y="982080"/>
            <a:ext cx="2816640" cy="703800"/>
            <a:chOff x="849600" y="982080"/>
            <a:chExt cx="2816640" cy="703800"/>
          </a:xfrm>
        </p:grpSpPr>
        <p:sp>
          <p:nvSpPr>
            <p:cNvPr id="98" name="Freeform 15" descr="A blue and red logo  AI-generated content may be incorrect."/>
            <p:cNvSpPr/>
            <p:nvPr/>
          </p:nvSpPr>
          <p:spPr>
            <a:xfrm>
              <a:off x="849600" y="982080"/>
              <a:ext cx="2816640" cy="703800"/>
            </a:xfrm>
            <a:custGeom>
              <a:avLst/>
              <a:gdLst>
                <a:gd name="textAreaLeft" fmla="*/ 0 w 2816640"/>
                <a:gd name="textAreaRight" fmla="*/ 2817000 w 2816640"/>
                <a:gd name="textAreaTop" fmla="*/ 0 h 703800"/>
                <a:gd name="textAreaBottom" fmla="*/ 704160 h 703800"/>
              </a:gdLst>
              <a:ahLst/>
              <a:cxnLst/>
              <a:rect l="textAreaLeft" t="textAreaTop" r="textAreaRight" b="textAreaBottom"/>
              <a:pathLst>
                <a:path w="3756025" h="939038">
                  <a:moveTo>
                    <a:pt x="0" y="0"/>
                  </a:moveTo>
                  <a:lnTo>
                    <a:pt x="3756025" y="0"/>
                  </a:lnTo>
                  <a:lnTo>
                    <a:pt x="3756025" y="939038"/>
                  </a:lnTo>
                  <a:lnTo>
                    <a:pt x="0" y="939038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2"/>
              <a:srcRect/>
              <a:stretch>
                <a:fillRect r="-33333" b="-33350"/>
              </a:stretch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99" name="Group 16"/>
          <p:cNvGrpSpPr/>
          <p:nvPr/>
        </p:nvGrpSpPr>
        <p:grpSpPr>
          <a:xfrm>
            <a:off x="849600" y="884880"/>
            <a:ext cx="2816640" cy="8419680"/>
            <a:chOff x="849600" y="884880"/>
            <a:chExt cx="2816640" cy="8419680"/>
          </a:xfrm>
        </p:grpSpPr>
        <p:sp>
          <p:nvSpPr>
            <p:cNvPr id="100" name="Freeform 17"/>
            <p:cNvSpPr/>
            <p:nvPr/>
          </p:nvSpPr>
          <p:spPr>
            <a:xfrm>
              <a:off x="849600" y="884880"/>
              <a:ext cx="2816640" cy="8419320"/>
            </a:xfrm>
            <a:custGeom>
              <a:avLst/>
              <a:gdLst>
                <a:gd name="textAreaLeft" fmla="*/ 0 w 2816640"/>
                <a:gd name="textAreaRight" fmla="*/ 2817000 w 2816640"/>
                <a:gd name="textAreaTop" fmla="*/ 0 h 8419320"/>
                <a:gd name="textAreaBottom" fmla="*/ 8419680 h 8419320"/>
              </a:gdLst>
              <a:ahLst/>
              <a:cxnLst/>
              <a:rect l="textAreaLeft" t="textAreaTop" r="textAreaRight" b="textAreaBottom"/>
              <a:pathLst>
                <a:path w="3755980" h="11226474">
                  <a:moveTo>
                    <a:pt x="0" y="0"/>
                  </a:moveTo>
                  <a:lnTo>
                    <a:pt x="3755980" y="0"/>
                  </a:lnTo>
                  <a:lnTo>
                    <a:pt x="3755980" y="11226474"/>
                  </a:lnTo>
                  <a:lnTo>
                    <a:pt x="0" y="11226474"/>
                  </a:lnTo>
                  <a:close/>
                </a:path>
              </a:pathLst>
            </a:custGeom>
            <a:blipFill rotWithShape="0">
              <a:blip r:embed="rId3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1" name="TextBox 18"/>
            <p:cNvSpPr/>
            <p:nvPr/>
          </p:nvSpPr>
          <p:spPr>
            <a:xfrm>
              <a:off x="849600" y="934920"/>
              <a:ext cx="2816640" cy="83696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defTabSz="914400">
                <a:lnSpc>
                  <a:spcPts val="2880"/>
                </a:lnSpc>
              </a:pPr>
              <a:r>
                <a:rPr b="0" lang="en-US" sz="3000" spc="156" strike="noStrike" u="none">
                  <a:solidFill>
                    <a:srgbClr val="ffffff"/>
                  </a:solidFill>
                  <a:effectLst/>
                  <a:uFillTx/>
                  <a:latin typeface="Big Shoulders Display"/>
                  <a:ea typeface="Big Shoulders Display"/>
                </a:rPr>
                <a:t>JAVA Programming Project Presentation</a:t>
              </a:r>
              <a:endParaRPr b="0" lang="en-IN" sz="30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f4fbfe"/>
            </a:gs>
            <a:gs pos="74000">
              <a:srgbClr val="99daf3"/>
            </a:gs>
            <a:gs pos="83000">
              <a:srgbClr val="99daf3"/>
            </a:gs>
            <a:gs pos="100000">
              <a:srgbClr val="bbe6f7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AutoShape 2"/>
          <p:cNvSpPr/>
          <p:nvPr/>
        </p:nvSpPr>
        <p:spPr>
          <a:xfrm flipV="1">
            <a:off x="1128600" y="1215360"/>
            <a:ext cx="28440" cy="1400400"/>
          </a:xfrm>
          <a:prstGeom prst="line">
            <a:avLst/>
          </a:prstGeom>
          <a:ln cap="rnd" w="19050">
            <a:solidFill>
              <a:srgbClr val="1cade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03" name="Group 3"/>
          <p:cNvGrpSpPr/>
          <p:nvPr/>
        </p:nvGrpSpPr>
        <p:grpSpPr>
          <a:xfrm>
            <a:off x="0" y="0"/>
            <a:ext cx="18287640" cy="10286640"/>
            <a:chOff x="0" y="0"/>
            <a:chExt cx="18287640" cy="10286640"/>
          </a:xfrm>
        </p:grpSpPr>
        <p:sp>
          <p:nvSpPr>
            <p:cNvPr id="104" name="Freeform 4"/>
            <p:cNvSpPr/>
            <p:nvPr/>
          </p:nvSpPr>
          <p:spPr>
            <a:xfrm>
              <a:off x="0" y="0"/>
              <a:ext cx="18287640" cy="10286640"/>
            </a:xfrm>
            <a:custGeom>
              <a:avLst/>
              <a:gdLst>
                <a:gd name="textAreaLeft" fmla="*/ 0 w 18287640"/>
                <a:gd name="textAreaRight" fmla="*/ 18288000 w 18287640"/>
                <a:gd name="textAreaTop" fmla="*/ 0 h 10286640"/>
                <a:gd name="textAreaBottom" fmla="*/ 10287000 h 10286640"/>
              </a:gdLst>
              <a:ahLst/>
              <a:cxnLst/>
              <a:rect l="textAreaLeft" t="textAreaTop" r="textAreaRight" b="textAreaBottom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05" name="Group 5"/>
          <p:cNvGrpSpPr/>
          <p:nvPr/>
        </p:nvGrpSpPr>
        <p:grpSpPr>
          <a:xfrm>
            <a:off x="4159080" y="726840"/>
            <a:ext cx="13421880" cy="8821080"/>
            <a:chOff x="4159080" y="726840"/>
            <a:chExt cx="13421880" cy="8821080"/>
          </a:xfrm>
        </p:grpSpPr>
        <p:sp>
          <p:nvSpPr>
            <p:cNvPr id="106" name="Freeform 6"/>
            <p:cNvSpPr/>
            <p:nvPr/>
          </p:nvSpPr>
          <p:spPr>
            <a:xfrm>
              <a:off x="4159080" y="726840"/>
              <a:ext cx="13421880" cy="8821080"/>
            </a:xfrm>
            <a:custGeom>
              <a:avLst/>
              <a:gdLst>
                <a:gd name="textAreaLeft" fmla="*/ 0 w 13421880"/>
                <a:gd name="textAreaRight" fmla="*/ 13422240 w 13421880"/>
                <a:gd name="textAreaTop" fmla="*/ 0 h 8821080"/>
                <a:gd name="textAreaBottom" fmla="*/ 8821440 h 8821080"/>
              </a:gdLst>
              <a:ahLst/>
              <a:cxnLst/>
              <a:rect l="textAreaLeft" t="textAreaTop" r="textAreaRight" b="textAreaBottom"/>
              <a:pathLst>
                <a:path w="17896332" h="11761851">
                  <a:moveTo>
                    <a:pt x="0" y="0"/>
                  </a:moveTo>
                  <a:lnTo>
                    <a:pt x="17896332" y="0"/>
                  </a:lnTo>
                  <a:lnTo>
                    <a:pt x="17896332" y="11761851"/>
                  </a:lnTo>
                  <a:lnTo>
                    <a:pt x="0" y="11761851"/>
                  </a:lnTo>
                  <a:close/>
                </a:path>
              </a:pathLst>
            </a:custGeom>
            <a:solidFill>
              <a:srgbClr val="40404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IN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07" name="Group 7"/>
          <p:cNvGrpSpPr/>
          <p:nvPr/>
        </p:nvGrpSpPr>
        <p:grpSpPr>
          <a:xfrm>
            <a:off x="5204160" y="1182600"/>
            <a:ext cx="11884680" cy="2249280"/>
            <a:chOff x="5204160" y="1182600"/>
            <a:chExt cx="11884680" cy="2249280"/>
          </a:xfrm>
        </p:grpSpPr>
        <p:sp>
          <p:nvSpPr>
            <p:cNvPr id="108" name="Freeform 8"/>
            <p:cNvSpPr/>
            <p:nvPr/>
          </p:nvSpPr>
          <p:spPr>
            <a:xfrm>
              <a:off x="5204160" y="1182600"/>
              <a:ext cx="11884680" cy="2248920"/>
            </a:xfrm>
            <a:custGeom>
              <a:avLst/>
              <a:gdLst>
                <a:gd name="textAreaLeft" fmla="*/ 0 w 11884680"/>
                <a:gd name="textAreaRight" fmla="*/ 11885040 w 11884680"/>
                <a:gd name="textAreaTop" fmla="*/ 0 h 2248920"/>
                <a:gd name="textAreaBottom" fmla="*/ 2249280 h 2248920"/>
              </a:gdLst>
              <a:ahLst/>
              <a:cxnLst/>
              <a:rect l="textAreaLeft" t="textAreaTop" r="textAreaRight" b="textAreaBottom"/>
              <a:pathLst>
                <a:path w="15846529" h="2999232">
                  <a:moveTo>
                    <a:pt x="0" y="0"/>
                  </a:moveTo>
                  <a:lnTo>
                    <a:pt x="15846529" y="0"/>
                  </a:lnTo>
                  <a:lnTo>
                    <a:pt x="15846529" y="2999232"/>
                  </a:lnTo>
                  <a:lnTo>
                    <a:pt x="0" y="2999232"/>
                  </a:lnTo>
                  <a:close/>
                </a:path>
              </a:pathLst>
            </a:custGeom>
            <a:blipFill rotWithShape="0">
              <a:blip r:embed="rId1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9" name="TextBox 9"/>
            <p:cNvSpPr/>
            <p:nvPr/>
          </p:nvSpPr>
          <p:spPr>
            <a:xfrm>
              <a:off x="5204160" y="1297080"/>
              <a:ext cx="11884680" cy="21348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defTabSz="914400">
                <a:lnSpc>
                  <a:spcPts val="7200"/>
                </a:lnSpc>
              </a:pPr>
              <a:r>
                <a:rPr b="0" lang="en-US" sz="7500" spc="164" strike="noStrike" u="none">
                  <a:solidFill>
                    <a:srgbClr val="ffffff"/>
                  </a:solidFill>
                  <a:effectLst/>
                  <a:uFillTx/>
                  <a:latin typeface="Big Shoulders Display"/>
                  <a:ea typeface="Big Shoulders Display"/>
                </a:rPr>
                <a:t>Problem Statement</a:t>
              </a:r>
              <a:endParaRPr b="0" lang="en-IN" sz="75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10" name="Group 10"/>
          <p:cNvGrpSpPr/>
          <p:nvPr/>
        </p:nvGrpSpPr>
        <p:grpSpPr>
          <a:xfrm>
            <a:off x="712800" y="726840"/>
            <a:ext cx="3193200" cy="8821080"/>
            <a:chOff x="712800" y="726840"/>
            <a:chExt cx="3193200" cy="8821080"/>
          </a:xfrm>
        </p:grpSpPr>
        <p:sp>
          <p:nvSpPr>
            <p:cNvPr id="111" name="Freeform 11"/>
            <p:cNvSpPr/>
            <p:nvPr/>
          </p:nvSpPr>
          <p:spPr>
            <a:xfrm>
              <a:off x="712800" y="726840"/>
              <a:ext cx="3193200" cy="8821080"/>
            </a:xfrm>
            <a:custGeom>
              <a:avLst/>
              <a:gdLst>
                <a:gd name="textAreaLeft" fmla="*/ 0 w 3193200"/>
                <a:gd name="textAreaRight" fmla="*/ 3193560 w 3193200"/>
                <a:gd name="textAreaTop" fmla="*/ 0 h 8821080"/>
                <a:gd name="textAreaBottom" fmla="*/ 8821440 h 8821080"/>
              </a:gdLst>
              <a:ahLst/>
              <a:cxnLst/>
              <a:rect l="textAreaLeft" t="textAreaTop" r="textAreaRight" b="textAreaBottom"/>
              <a:pathLst>
                <a:path w="4257929" h="11761851">
                  <a:moveTo>
                    <a:pt x="0" y="0"/>
                  </a:moveTo>
                  <a:lnTo>
                    <a:pt x="4257929" y="0"/>
                  </a:lnTo>
                  <a:lnTo>
                    <a:pt x="4257929" y="11761851"/>
                  </a:lnTo>
                  <a:lnTo>
                    <a:pt x="0" y="11761851"/>
                  </a:lnTo>
                  <a:close/>
                </a:path>
              </a:pathLst>
            </a:custGeom>
            <a:solidFill>
              <a:srgbClr val="1cade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12" name="AutoShape 12"/>
          <p:cNvSpPr/>
          <p:nvPr/>
        </p:nvSpPr>
        <p:spPr>
          <a:xfrm flipV="1">
            <a:off x="4796280" y="1520280"/>
            <a:ext cx="28800" cy="1400040"/>
          </a:xfrm>
          <a:prstGeom prst="line">
            <a:avLst/>
          </a:prstGeom>
          <a:ln cap="rnd" w="19050">
            <a:solidFill>
              <a:srgbClr val="1cade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TextBox 13"/>
          <p:cNvSpPr/>
          <p:nvPr/>
        </p:nvSpPr>
        <p:spPr>
          <a:xfrm>
            <a:off x="5249880" y="3789000"/>
            <a:ext cx="11793240" cy="401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2917"/>
              </a:lnSpc>
            </a:pPr>
            <a:r>
              <a:rPr b="0" lang="en-US" sz="27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In many small shops:</a:t>
            </a:r>
            <a:endParaRPr b="0" lang="en-IN" sz="2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582840" indent="-291600" defTabSz="914400">
              <a:lnSpc>
                <a:spcPts val="2917"/>
              </a:lnSpc>
              <a:buClr>
                <a:srgbClr val="ffffff"/>
              </a:buClr>
              <a:buFont typeface="Arial"/>
              <a:buChar char="•"/>
            </a:pPr>
            <a:r>
              <a:rPr b="0" lang="en-US" sz="27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Billing is done manually </a:t>
            </a:r>
            <a:endParaRPr b="0" lang="en-IN" sz="2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582840" indent="-291600" defTabSz="914400">
              <a:lnSpc>
                <a:spcPts val="2917"/>
              </a:lnSpc>
              <a:buClr>
                <a:srgbClr val="ffffff"/>
              </a:buClr>
              <a:buFont typeface="Arial"/>
              <a:buChar char="•"/>
            </a:pPr>
            <a:r>
              <a:rPr b="0" lang="en-US" sz="27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Takes more time </a:t>
            </a:r>
            <a:endParaRPr b="0" lang="en-IN" sz="2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582840" indent="-291600" defTabSz="914400">
              <a:lnSpc>
                <a:spcPts val="2917"/>
              </a:lnSpc>
              <a:buClr>
                <a:srgbClr val="ffffff"/>
              </a:buClr>
              <a:buFont typeface="Arial"/>
              <a:buChar char="•"/>
            </a:pPr>
            <a:r>
              <a:rPr b="0" lang="en-US" sz="27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Chances of calculation errors </a:t>
            </a:r>
            <a:endParaRPr b="0" lang="en-IN" sz="2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582840" indent="-291600" defTabSz="914400">
              <a:lnSpc>
                <a:spcPts val="2917"/>
              </a:lnSpc>
              <a:buClr>
                <a:srgbClr val="ffffff"/>
              </a:buClr>
              <a:buFont typeface="Arial"/>
              <a:buChar char="•"/>
            </a:pPr>
            <a:r>
              <a:rPr b="0" lang="en-US" sz="27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No proper discount system</a:t>
            </a:r>
            <a:endParaRPr b="0" lang="en-IN" sz="2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917"/>
              </a:lnSpc>
            </a:pPr>
            <a:r>
              <a:rPr b="0" lang="en-US" sz="27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Solution:</a:t>
            </a:r>
            <a:endParaRPr b="0" lang="en-IN" sz="2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917"/>
              </a:lnSpc>
            </a:pPr>
            <a:r>
              <a:rPr b="0" lang="en-US" sz="27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 This project provides:</a:t>
            </a:r>
            <a:endParaRPr b="0" lang="en-IN" sz="2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582840" indent="-291600" defTabSz="914400">
              <a:lnSpc>
                <a:spcPts val="2917"/>
              </a:lnSpc>
              <a:buClr>
                <a:srgbClr val="ffffff"/>
              </a:buClr>
              <a:buFont typeface="Arial"/>
              <a:buChar char="•"/>
            </a:pPr>
            <a:r>
              <a:rPr b="0" lang="en-US" sz="27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Fast billing system </a:t>
            </a:r>
            <a:endParaRPr b="0" lang="en-IN" sz="2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582840" indent="-291600" defTabSz="914400">
              <a:lnSpc>
                <a:spcPts val="2917"/>
              </a:lnSpc>
              <a:buClr>
                <a:srgbClr val="ffffff"/>
              </a:buClr>
              <a:buFont typeface="Arial"/>
              <a:buChar char="•"/>
            </a:pPr>
            <a:r>
              <a:rPr b="0" lang="en-US" sz="27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Accurate calculations </a:t>
            </a:r>
            <a:endParaRPr b="0" lang="en-IN" sz="2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582840" indent="-291600" defTabSz="914400">
              <a:lnSpc>
                <a:spcPts val="2917"/>
              </a:lnSpc>
              <a:buClr>
                <a:srgbClr val="ffffff"/>
              </a:buClr>
              <a:buFont typeface="Arial"/>
              <a:buChar char="•"/>
            </a:pPr>
            <a:r>
              <a:rPr b="0" lang="en-US" sz="27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Easy discount application </a:t>
            </a:r>
            <a:endParaRPr b="0" lang="en-IN" sz="2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917"/>
              </a:lnSpc>
            </a:pP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14" name="Group 14"/>
          <p:cNvGrpSpPr/>
          <p:nvPr/>
        </p:nvGrpSpPr>
        <p:grpSpPr>
          <a:xfrm>
            <a:off x="849600" y="982080"/>
            <a:ext cx="2816640" cy="703800"/>
            <a:chOff x="849600" y="982080"/>
            <a:chExt cx="2816640" cy="703800"/>
          </a:xfrm>
        </p:grpSpPr>
        <p:sp>
          <p:nvSpPr>
            <p:cNvPr id="115" name="Freeform 15" descr="A blue and red logo  AI-generated content may be incorrect."/>
            <p:cNvSpPr/>
            <p:nvPr/>
          </p:nvSpPr>
          <p:spPr>
            <a:xfrm>
              <a:off x="849600" y="982080"/>
              <a:ext cx="2816640" cy="703800"/>
            </a:xfrm>
            <a:custGeom>
              <a:avLst/>
              <a:gdLst>
                <a:gd name="textAreaLeft" fmla="*/ 0 w 2816640"/>
                <a:gd name="textAreaRight" fmla="*/ 2817000 w 2816640"/>
                <a:gd name="textAreaTop" fmla="*/ 0 h 703800"/>
                <a:gd name="textAreaBottom" fmla="*/ 704160 h 703800"/>
              </a:gdLst>
              <a:ahLst/>
              <a:cxnLst/>
              <a:rect l="textAreaLeft" t="textAreaTop" r="textAreaRight" b="textAreaBottom"/>
              <a:pathLst>
                <a:path w="3756025" h="939038">
                  <a:moveTo>
                    <a:pt x="0" y="0"/>
                  </a:moveTo>
                  <a:lnTo>
                    <a:pt x="3756025" y="0"/>
                  </a:lnTo>
                  <a:lnTo>
                    <a:pt x="3756025" y="939038"/>
                  </a:lnTo>
                  <a:lnTo>
                    <a:pt x="0" y="939038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2"/>
              <a:srcRect/>
              <a:stretch>
                <a:fillRect r="-33333" b="-33350"/>
              </a:stretch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16" name="Group 16"/>
          <p:cNvGrpSpPr/>
          <p:nvPr/>
        </p:nvGrpSpPr>
        <p:grpSpPr>
          <a:xfrm>
            <a:off x="849600" y="884880"/>
            <a:ext cx="2816640" cy="8419680"/>
            <a:chOff x="849600" y="884880"/>
            <a:chExt cx="2816640" cy="8419680"/>
          </a:xfrm>
        </p:grpSpPr>
        <p:sp>
          <p:nvSpPr>
            <p:cNvPr id="117" name="Freeform 17"/>
            <p:cNvSpPr/>
            <p:nvPr/>
          </p:nvSpPr>
          <p:spPr>
            <a:xfrm>
              <a:off x="849600" y="884880"/>
              <a:ext cx="2816640" cy="8419320"/>
            </a:xfrm>
            <a:custGeom>
              <a:avLst/>
              <a:gdLst>
                <a:gd name="textAreaLeft" fmla="*/ 0 w 2816640"/>
                <a:gd name="textAreaRight" fmla="*/ 2817000 w 2816640"/>
                <a:gd name="textAreaTop" fmla="*/ 0 h 8419320"/>
                <a:gd name="textAreaBottom" fmla="*/ 8419680 h 8419320"/>
              </a:gdLst>
              <a:ahLst/>
              <a:cxnLst/>
              <a:rect l="textAreaLeft" t="textAreaTop" r="textAreaRight" b="textAreaBottom"/>
              <a:pathLst>
                <a:path w="3755980" h="11226474">
                  <a:moveTo>
                    <a:pt x="0" y="0"/>
                  </a:moveTo>
                  <a:lnTo>
                    <a:pt x="3755980" y="0"/>
                  </a:lnTo>
                  <a:lnTo>
                    <a:pt x="3755980" y="11226474"/>
                  </a:lnTo>
                  <a:lnTo>
                    <a:pt x="0" y="11226474"/>
                  </a:lnTo>
                  <a:close/>
                </a:path>
              </a:pathLst>
            </a:custGeom>
            <a:blipFill rotWithShape="0">
              <a:blip r:embed="rId3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8" name="TextBox 18"/>
            <p:cNvSpPr/>
            <p:nvPr/>
          </p:nvSpPr>
          <p:spPr>
            <a:xfrm>
              <a:off x="849600" y="934920"/>
              <a:ext cx="2816640" cy="83696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defTabSz="914400">
                <a:lnSpc>
                  <a:spcPts val="2880"/>
                </a:lnSpc>
              </a:pPr>
              <a:r>
                <a:rPr b="0" lang="en-US" sz="3000" spc="156" strike="noStrike" u="none">
                  <a:solidFill>
                    <a:srgbClr val="ffffff"/>
                  </a:solidFill>
                  <a:effectLst/>
                  <a:uFillTx/>
                  <a:latin typeface="Big Shoulders Display"/>
                  <a:ea typeface="Big Shoulders Display"/>
                </a:rPr>
                <a:t>JAVA Programming Project Presentation</a:t>
              </a:r>
              <a:endParaRPr b="0" lang="en-IN" sz="30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f4fbfe"/>
            </a:gs>
            <a:gs pos="74000">
              <a:srgbClr val="99daf3"/>
            </a:gs>
            <a:gs pos="83000">
              <a:srgbClr val="99daf3"/>
            </a:gs>
            <a:gs pos="100000">
              <a:srgbClr val="bbe6f7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AutoShape 2"/>
          <p:cNvSpPr/>
          <p:nvPr/>
        </p:nvSpPr>
        <p:spPr>
          <a:xfrm flipV="1">
            <a:off x="1128600" y="1215360"/>
            <a:ext cx="28440" cy="1400400"/>
          </a:xfrm>
          <a:prstGeom prst="line">
            <a:avLst/>
          </a:prstGeom>
          <a:ln cap="rnd" w="19050">
            <a:solidFill>
              <a:srgbClr val="1cade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20" name="Group 3"/>
          <p:cNvGrpSpPr/>
          <p:nvPr/>
        </p:nvGrpSpPr>
        <p:grpSpPr>
          <a:xfrm>
            <a:off x="0" y="0"/>
            <a:ext cx="18287640" cy="10286640"/>
            <a:chOff x="0" y="0"/>
            <a:chExt cx="18287640" cy="10286640"/>
          </a:xfrm>
        </p:grpSpPr>
        <p:sp>
          <p:nvSpPr>
            <p:cNvPr id="121" name="Freeform 4"/>
            <p:cNvSpPr/>
            <p:nvPr/>
          </p:nvSpPr>
          <p:spPr>
            <a:xfrm>
              <a:off x="0" y="0"/>
              <a:ext cx="18287640" cy="10286640"/>
            </a:xfrm>
            <a:custGeom>
              <a:avLst/>
              <a:gdLst>
                <a:gd name="textAreaLeft" fmla="*/ 0 w 18287640"/>
                <a:gd name="textAreaRight" fmla="*/ 18288000 w 18287640"/>
                <a:gd name="textAreaTop" fmla="*/ 0 h 10286640"/>
                <a:gd name="textAreaBottom" fmla="*/ 10287000 h 10286640"/>
              </a:gdLst>
              <a:ahLst/>
              <a:cxnLst/>
              <a:rect l="textAreaLeft" t="textAreaTop" r="textAreaRight" b="textAreaBottom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22" name="Group 5"/>
          <p:cNvGrpSpPr/>
          <p:nvPr/>
        </p:nvGrpSpPr>
        <p:grpSpPr>
          <a:xfrm>
            <a:off x="4159080" y="726840"/>
            <a:ext cx="13421880" cy="8821080"/>
            <a:chOff x="4159080" y="726840"/>
            <a:chExt cx="13421880" cy="8821080"/>
          </a:xfrm>
        </p:grpSpPr>
        <p:sp>
          <p:nvSpPr>
            <p:cNvPr id="123" name="Freeform 6"/>
            <p:cNvSpPr/>
            <p:nvPr/>
          </p:nvSpPr>
          <p:spPr>
            <a:xfrm>
              <a:off x="4159080" y="726840"/>
              <a:ext cx="13421880" cy="8821080"/>
            </a:xfrm>
            <a:custGeom>
              <a:avLst/>
              <a:gdLst>
                <a:gd name="textAreaLeft" fmla="*/ 0 w 13421880"/>
                <a:gd name="textAreaRight" fmla="*/ 13422240 w 13421880"/>
                <a:gd name="textAreaTop" fmla="*/ 0 h 8821080"/>
                <a:gd name="textAreaBottom" fmla="*/ 8821440 h 8821080"/>
              </a:gdLst>
              <a:ahLst/>
              <a:cxnLst/>
              <a:rect l="textAreaLeft" t="textAreaTop" r="textAreaRight" b="textAreaBottom"/>
              <a:pathLst>
                <a:path w="17896332" h="11761851">
                  <a:moveTo>
                    <a:pt x="0" y="0"/>
                  </a:moveTo>
                  <a:lnTo>
                    <a:pt x="17896332" y="0"/>
                  </a:lnTo>
                  <a:lnTo>
                    <a:pt x="17896332" y="11761851"/>
                  </a:lnTo>
                  <a:lnTo>
                    <a:pt x="0" y="11761851"/>
                  </a:lnTo>
                  <a:close/>
                </a:path>
              </a:pathLst>
            </a:custGeom>
            <a:solidFill>
              <a:srgbClr val="40404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IN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24" name="Group 7"/>
          <p:cNvGrpSpPr/>
          <p:nvPr/>
        </p:nvGrpSpPr>
        <p:grpSpPr>
          <a:xfrm>
            <a:off x="5204160" y="1182600"/>
            <a:ext cx="11884680" cy="2249280"/>
            <a:chOff x="5204160" y="1182600"/>
            <a:chExt cx="11884680" cy="2249280"/>
          </a:xfrm>
        </p:grpSpPr>
        <p:sp>
          <p:nvSpPr>
            <p:cNvPr id="125" name="Freeform 8"/>
            <p:cNvSpPr/>
            <p:nvPr/>
          </p:nvSpPr>
          <p:spPr>
            <a:xfrm>
              <a:off x="5204160" y="1182600"/>
              <a:ext cx="11884680" cy="2248920"/>
            </a:xfrm>
            <a:custGeom>
              <a:avLst/>
              <a:gdLst>
                <a:gd name="textAreaLeft" fmla="*/ 0 w 11884680"/>
                <a:gd name="textAreaRight" fmla="*/ 11885040 w 11884680"/>
                <a:gd name="textAreaTop" fmla="*/ 0 h 2248920"/>
                <a:gd name="textAreaBottom" fmla="*/ 2249280 h 2248920"/>
              </a:gdLst>
              <a:ahLst/>
              <a:cxnLst/>
              <a:rect l="textAreaLeft" t="textAreaTop" r="textAreaRight" b="textAreaBottom"/>
              <a:pathLst>
                <a:path w="15846529" h="2999232">
                  <a:moveTo>
                    <a:pt x="0" y="0"/>
                  </a:moveTo>
                  <a:lnTo>
                    <a:pt x="15846529" y="0"/>
                  </a:lnTo>
                  <a:lnTo>
                    <a:pt x="15846529" y="2999232"/>
                  </a:lnTo>
                  <a:lnTo>
                    <a:pt x="0" y="2999232"/>
                  </a:lnTo>
                  <a:close/>
                </a:path>
              </a:pathLst>
            </a:custGeom>
            <a:blipFill rotWithShape="0">
              <a:blip r:embed="rId1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6" name="TextBox 9"/>
            <p:cNvSpPr/>
            <p:nvPr/>
          </p:nvSpPr>
          <p:spPr>
            <a:xfrm>
              <a:off x="5204160" y="1297080"/>
              <a:ext cx="11884680" cy="21348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defTabSz="914400">
                <a:lnSpc>
                  <a:spcPts val="7200"/>
                </a:lnSpc>
              </a:pPr>
              <a:r>
                <a:rPr b="0" lang="en-US" sz="7500" spc="164" strike="noStrike" u="none">
                  <a:solidFill>
                    <a:srgbClr val="ffffff"/>
                  </a:solidFill>
                  <a:effectLst/>
                  <a:uFillTx/>
                  <a:latin typeface="Big Shoulders Display"/>
                  <a:ea typeface="Big Shoulders Display"/>
                </a:rPr>
                <a:t>System Requirements</a:t>
              </a:r>
              <a:endParaRPr b="0" lang="en-IN" sz="75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27" name="Group 10"/>
          <p:cNvGrpSpPr/>
          <p:nvPr/>
        </p:nvGrpSpPr>
        <p:grpSpPr>
          <a:xfrm>
            <a:off x="712800" y="726840"/>
            <a:ext cx="3193200" cy="8821080"/>
            <a:chOff x="712800" y="726840"/>
            <a:chExt cx="3193200" cy="8821080"/>
          </a:xfrm>
        </p:grpSpPr>
        <p:sp>
          <p:nvSpPr>
            <p:cNvPr id="128" name="Freeform 11"/>
            <p:cNvSpPr/>
            <p:nvPr/>
          </p:nvSpPr>
          <p:spPr>
            <a:xfrm>
              <a:off x="712800" y="726840"/>
              <a:ext cx="3193200" cy="8821080"/>
            </a:xfrm>
            <a:custGeom>
              <a:avLst/>
              <a:gdLst>
                <a:gd name="textAreaLeft" fmla="*/ 0 w 3193200"/>
                <a:gd name="textAreaRight" fmla="*/ 3193560 w 3193200"/>
                <a:gd name="textAreaTop" fmla="*/ 0 h 8821080"/>
                <a:gd name="textAreaBottom" fmla="*/ 8821440 h 8821080"/>
              </a:gdLst>
              <a:ahLst/>
              <a:cxnLst/>
              <a:rect l="textAreaLeft" t="textAreaTop" r="textAreaRight" b="textAreaBottom"/>
              <a:pathLst>
                <a:path w="4257929" h="11761851">
                  <a:moveTo>
                    <a:pt x="0" y="0"/>
                  </a:moveTo>
                  <a:lnTo>
                    <a:pt x="4257929" y="0"/>
                  </a:lnTo>
                  <a:lnTo>
                    <a:pt x="4257929" y="11761851"/>
                  </a:lnTo>
                  <a:lnTo>
                    <a:pt x="0" y="11761851"/>
                  </a:lnTo>
                  <a:close/>
                </a:path>
              </a:pathLst>
            </a:custGeom>
            <a:solidFill>
              <a:srgbClr val="1cade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29" name="AutoShape 12"/>
          <p:cNvSpPr/>
          <p:nvPr/>
        </p:nvSpPr>
        <p:spPr>
          <a:xfrm flipV="1">
            <a:off x="4796280" y="1520280"/>
            <a:ext cx="28800" cy="1400040"/>
          </a:xfrm>
          <a:prstGeom prst="line">
            <a:avLst/>
          </a:prstGeom>
          <a:ln cap="rnd" w="19050">
            <a:solidFill>
              <a:srgbClr val="1cade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" name="TextBox 13"/>
          <p:cNvSpPr/>
          <p:nvPr/>
        </p:nvSpPr>
        <p:spPr>
          <a:xfrm>
            <a:off x="5249880" y="3789000"/>
            <a:ext cx="11793240" cy="307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2429"/>
              </a:lnSpc>
            </a:pPr>
            <a:r>
              <a:rPr b="0" lang="en-US" sz="225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Hardware Requirements:</a:t>
            </a:r>
            <a:endParaRPr b="0" lang="en-IN" sz="2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485640" indent="-243000" defTabSz="914400">
              <a:lnSpc>
                <a:spcPts val="2429"/>
              </a:lnSpc>
              <a:buClr>
                <a:srgbClr val="ffffff"/>
              </a:buClr>
              <a:buFont typeface="Arial"/>
              <a:buChar char="•"/>
            </a:pPr>
            <a:r>
              <a:rPr b="0" lang="en-US" sz="225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Processor: Intel i3 or above</a:t>
            </a:r>
            <a:endParaRPr b="0" lang="en-IN" sz="2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485640" indent="-243000" defTabSz="914400">
              <a:lnSpc>
                <a:spcPts val="2429"/>
              </a:lnSpc>
              <a:buClr>
                <a:srgbClr val="ffffff"/>
              </a:buClr>
              <a:buFont typeface="Arial"/>
              <a:buChar char="•"/>
            </a:pPr>
            <a:r>
              <a:rPr b="0" lang="en-US" sz="225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RAM: 4GB minimum</a:t>
            </a:r>
            <a:endParaRPr b="0" lang="en-IN" sz="2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485640" indent="-243000" defTabSz="914400">
              <a:lnSpc>
                <a:spcPts val="2429"/>
              </a:lnSpc>
              <a:buClr>
                <a:srgbClr val="ffffff"/>
              </a:buClr>
              <a:buFont typeface="Arial"/>
              <a:buChar char="•"/>
            </a:pPr>
            <a:r>
              <a:rPr b="0" lang="en-US" sz="225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Storage: 500MB</a:t>
            </a:r>
            <a:endParaRPr b="0" lang="en-IN" sz="2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429"/>
              </a:lnSpc>
            </a:pPr>
            <a:r>
              <a:rPr b="0" lang="en-US" sz="225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Software Requirements:</a:t>
            </a:r>
            <a:endParaRPr b="0" lang="en-IN" sz="2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485640" indent="-243000" defTabSz="914400">
              <a:lnSpc>
                <a:spcPts val="2429"/>
              </a:lnSpc>
              <a:buClr>
                <a:srgbClr val="ffffff"/>
              </a:buClr>
              <a:buFont typeface="Arial"/>
              <a:buChar char="•"/>
            </a:pPr>
            <a:r>
              <a:rPr b="0" lang="en-US" sz="225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OS: Windows / Linux</a:t>
            </a:r>
            <a:endParaRPr b="0" lang="en-IN" sz="2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485640" indent="-243000" defTabSz="914400">
              <a:lnSpc>
                <a:spcPts val="2429"/>
              </a:lnSpc>
              <a:buClr>
                <a:srgbClr val="ffffff"/>
              </a:buClr>
              <a:buFont typeface="Arial"/>
              <a:buChar char="•"/>
            </a:pPr>
            <a:r>
              <a:rPr b="0" lang="en-US" sz="225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IDE: NetBeans / Eclipse</a:t>
            </a:r>
            <a:endParaRPr b="0" lang="en-IN" sz="2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485640" indent="-243000" defTabSz="914400">
              <a:lnSpc>
                <a:spcPts val="2429"/>
              </a:lnSpc>
              <a:buClr>
                <a:srgbClr val="ffffff"/>
              </a:buClr>
              <a:buFont typeface="Arial"/>
              <a:buChar char="•"/>
            </a:pPr>
            <a:r>
              <a:rPr b="0" lang="en-US" sz="225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Language: Java</a:t>
            </a:r>
            <a:endParaRPr b="0" lang="en-IN" sz="2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485640" indent="-243000" defTabSz="914400">
              <a:lnSpc>
                <a:spcPts val="2429"/>
              </a:lnSpc>
              <a:buClr>
                <a:srgbClr val="ffffff"/>
              </a:buClr>
              <a:buFont typeface="Arial"/>
              <a:buChar char="•"/>
            </a:pPr>
            <a:r>
              <a:rPr b="0" lang="en-US" sz="225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GUI: Swing</a:t>
            </a:r>
            <a:endParaRPr b="0" lang="en-IN" sz="2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429"/>
              </a:lnSpc>
            </a:pP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31" name="Group 14"/>
          <p:cNvGrpSpPr/>
          <p:nvPr/>
        </p:nvGrpSpPr>
        <p:grpSpPr>
          <a:xfrm>
            <a:off x="849600" y="982080"/>
            <a:ext cx="2816640" cy="703800"/>
            <a:chOff x="849600" y="982080"/>
            <a:chExt cx="2816640" cy="703800"/>
          </a:xfrm>
        </p:grpSpPr>
        <p:sp>
          <p:nvSpPr>
            <p:cNvPr id="132" name="Freeform 15" descr="A blue and red logo  AI-generated content may be incorrect."/>
            <p:cNvSpPr/>
            <p:nvPr/>
          </p:nvSpPr>
          <p:spPr>
            <a:xfrm>
              <a:off x="849600" y="982080"/>
              <a:ext cx="2816640" cy="703800"/>
            </a:xfrm>
            <a:custGeom>
              <a:avLst/>
              <a:gdLst>
                <a:gd name="textAreaLeft" fmla="*/ 0 w 2816640"/>
                <a:gd name="textAreaRight" fmla="*/ 2817000 w 2816640"/>
                <a:gd name="textAreaTop" fmla="*/ 0 h 703800"/>
                <a:gd name="textAreaBottom" fmla="*/ 704160 h 703800"/>
              </a:gdLst>
              <a:ahLst/>
              <a:cxnLst/>
              <a:rect l="textAreaLeft" t="textAreaTop" r="textAreaRight" b="textAreaBottom"/>
              <a:pathLst>
                <a:path w="3756025" h="939038">
                  <a:moveTo>
                    <a:pt x="0" y="0"/>
                  </a:moveTo>
                  <a:lnTo>
                    <a:pt x="3756025" y="0"/>
                  </a:lnTo>
                  <a:lnTo>
                    <a:pt x="3756025" y="939038"/>
                  </a:lnTo>
                  <a:lnTo>
                    <a:pt x="0" y="939038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2"/>
              <a:srcRect/>
              <a:stretch>
                <a:fillRect r="-33333" b="-33350"/>
              </a:stretch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33" name="Group 16"/>
          <p:cNvGrpSpPr/>
          <p:nvPr/>
        </p:nvGrpSpPr>
        <p:grpSpPr>
          <a:xfrm>
            <a:off x="849600" y="884880"/>
            <a:ext cx="2816640" cy="8419680"/>
            <a:chOff x="849600" y="884880"/>
            <a:chExt cx="2816640" cy="8419680"/>
          </a:xfrm>
        </p:grpSpPr>
        <p:sp>
          <p:nvSpPr>
            <p:cNvPr id="134" name="Freeform 17"/>
            <p:cNvSpPr/>
            <p:nvPr/>
          </p:nvSpPr>
          <p:spPr>
            <a:xfrm>
              <a:off x="849600" y="884880"/>
              <a:ext cx="2816640" cy="8419320"/>
            </a:xfrm>
            <a:custGeom>
              <a:avLst/>
              <a:gdLst>
                <a:gd name="textAreaLeft" fmla="*/ 0 w 2816640"/>
                <a:gd name="textAreaRight" fmla="*/ 2817000 w 2816640"/>
                <a:gd name="textAreaTop" fmla="*/ 0 h 8419320"/>
                <a:gd name="textAreaBottom" fmla="*/ 8419680 h 8419320"/>
              </a:gdLst>
              <a:ahLst/>
              <a:cxnLst/>
              <a:rect l="textAreaLeft" t="textAreaTop" r="textAreaRight" b="textAreaBottom"/>
              <a:pathLst>
                <a:path w="3755980" h="11226474">
                  <a:moveTo>
                    <a:pt x="0" y="0"/>
                  </a:moveTo>
                  <a:lnTo>
                    <a:pt x="3755980" y="0"/>
                  </a:lnTo>
                  <a:lnTo>
                    <a:pt x="3755980" y="11226474"/>
                  </a:lnTo>
                  <a:lnTo>
                    <a:pt x="0" y="11226474"/>
                  </a:lnTo>
                  <a:close/>
                </a:path>
              </a:pathLst>
            </a:custGeom>
            <a:blipFill rotWithShape="0">
              <a:blip r:embed="rId3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5" name="TextBox 18"/>
            <p:cNvSpPr/>
            <p:nvPr/>
          </p:nvSpPr>
          <p:spPr>
            <a:xfrm>
              <a:off x="849600" y="934920"/>
              <a:ext cx="2816640" cy="83696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defTabSz="914400">
                <a:lnSpc>
                  <a:spcPts val="2880"/>
                </a:lnSpc>
              </a:pPr>
              <a:r>
                <a:rPr b="0" lang="en-US" sz="3000" spc="156" strike="noStrike" u="none">
                  <a:solidFill>
                    <a:srgbClr val="ffffff"/>
                  </a:solidFill>
                  <a:effectLst/>
                  <a:uFillTx/>
                  <a:latin typeface="Big Shoulders Display"/>
                  <a:ea typeface="Big Shoulders Display"/>
                </a:rPr>
                <a:t>JAVA Programming Project Presentation</a:t>
              </a:r>
              <a:endParaRPr b="0" lang="en-IN" sz="30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f4fbfe"/>
            </a:gs>
            <a:gs pos="74000">
              <a:srgbClr val="99daf3"/>
            </a:gs>
            <a:gs pos="83000">
              <a:srgbClr val="99daf3"/>
            </a:gs>
            <a:gs pos="100000">
              <a:srgbClr val="bbe6f7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AutoShape 2"/>
          <p:cNvSpPr/>
          <p:nvPr/>
        </p:nvSpPr>
        <p:spPr>
          <a:xfrm flipV="1">
            <a:off x="1128600" y="1215360"/>
            <a:ext cx="28440" cy="1400400"/>
          </a:xfrm>
          <a:prstGeom prst="line">
            <a:avLst/>
          </a:prstGeom>
          <a:ln cap="rnd" w="19050">
            <a:solidFill>
              <a:srgbClr val="1cade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37" name="Group 3"/>
          <p:cNvGrpSpPr/>
          <p:nvPr/>
        </p:nvGrpSpPr>
        <p:grpSpPr>
          <a:xfrm>
            <a:off x="0" y="0"/>
            <a:ext cx="18287640" cy="10286640"/>
            <a:chOff x="0" y="0"/>
            <a:chExt cx="18287640" cy="10286640"/>
          </a:xfrm>
        </p:grpSpPr>
        <p:sp>
          <p:nvSpPr>
            <p:cNvPr id="138" name="Freeform 4"/>
            <p:cNvSpPr/>
            <p:nvPr/>
          </p:nvSpPr>
          <p:spPr>
            <a:xfrm>
              <a:off x="0" y="0"/>
              <a:ext cx="18287640" cy="10286640"/>
            </a:xfrm>
            <a:custGeom>
              <a:avLst/>
              <a:gdLst>
                <a:gd name="textAreaLeft" fmla="*/ 0 w 18287640"/>
                <a:gd name="textAreaRight" fmla="*/ 18288000 w 18287640"/>
                <a:gd name="textAreaTop" fmla="*/ 0 h 10286640"/>
                <a:gd name="textAreaBottom" fmla="*/ 10287000 h 10286640"/>
              </a:gdLst>
              <a:ahLst/>
              <a:cxnLst/>
              <a:rect l="textAreaLeft" t="textAreaTop" r="textAreaRight" b="textAreaBottom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39" name="Group 5"/>
          <p:cNvGrpSpPr/>
          <p:nvPr/>
        </p:nvGrpSpPr>
        <p:grpSpPr>
          <a:xfrm>
            <a:off x="4159080" y="726840"/>
            <a:ext cx="13421880" cy="8821080"/>
            <a:chOff x="4159080" y="726840"/>
            <a:chExt cx="13421880" cy="8821080"/>
          </a:xfrm>
        </p:grpSpPr>
        <p:sp>
          <p:nvSpPr>
            <p:cNvPr id="140" name="Freeform 6"/>
            <p:cNvSpPr/>
            <p:nvPr/>
          </p:nvSpPr>
          <p:spPr>
            <a:xfrm>
              <a:off x="4159080" y="726840"/>
              <a:ext cx="13421880" cy="8821080"/>
            </a:xfrm>
            <a:custGeom>
              <a:avLst/>
              <a:gdLst>
                <a:gd name="textAreaLeft" fmla="*/ 0 w 13421880"/>
                <a:gd name="textAreaRight" fmla="*/ 13422240 w 13421880"/>
                <a:gd name="textAreaTop" fmla="*/ 0 h 8821080"/>
                <a:gd name="textAreaBottom" fmla="*/ 8821440 h 8821080"/>
              </a:gdLst>
              <a:ahLst/>
              <a:cxnLst/>
              <a:rect l="textAreaLeft" t="textAreaTop" r="textAreaRight" b="textAreaBottom"/>
              <a:pathLst>
                <a:path w="17896332" h="11761851">
                  <a:moveTo>
                    <a:pt x="0" y="0"/>
                  </a:moveTo>
                  <a:lnTo>
                    <a:pt x="17896332" y="0"/>
                  </a:lnTo>
                  <a:lnTo>
                    <a:pt x="17896332" y="11761851"/>
                  </a:lnTo>
                  <a:lnTo>
                    <a:pt x="0" y="11761851"/>
                  </a:lnTo>
                  <a:close/>
                </a:path>
              </a:pathLst>
            </a:custGeom>
            <a:solidFill>
              <a:srgbClr val="40404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IN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41" name="Group 7"/>
          <p:cNvGrpSpPr/>
          <p:nvPr/>
        </p:nvGrpSpPr>
        <p:grpSpPr>
          <a:xfrm>
            <a:off x="5204160" y="1182600"/>
            <a:ext cx="11884680" cy="2249280"/>
            <a:chOff x="5204160" y="1182600"/>
            <a:chExt cx="11884680" cy="2249280"/>
          </a:xfrm>
        </p:grpSpPr>
        <p:sp>
          <p:nvSpPr>
            <p:cNvPr id="142" name="Freeform 8"/>
            <p:cNvSpPr/>
            <p:nvPr/>
          </p:nvSpPr>
          <p:spPr>
            <a:xfrm>
              <a:off x="5204160" y="1182600"/>
              <a:ext cx="11884680" cy="2248920"/>
            </a:xfrm>
            <a:custGeom>
              <a:avLst/>
              <a:gdLst>
                <a:gd name="textAreaLeft" fmla="*/ 0 w 11884680"/>
                <a:gd name="textAreaRight" fmla="*/ 11885040 w 11884680"/>
                <a:gd name="textAreaTop" fmla="*/ 0 h 2248920"/>
                <a:gd name="textAreaBottom" fmla="*/ 2249280 h 2248920"/>
              </a:gdLst>
              <a:ahLst/>
              <a:cxnLst/>
              <a:rect l="textAreaLeft" t="textAreaTop" r="textAreaRight" b="textAreaBottom"/>
              <a:pathLst>
                <a:path w="15846529" h="2999232">
                  <a:moveTo>
                    <a:pt x="0" y="0"/>
                  </a:moveTo>
                  <a:lnTo>
                    <a:pt x="15846529" y="0"/>
                  </a:lnTo>
                  <a:lnTo>
                    <a:pt x="15846529" y="2999232"/>
                  </a:lnTo>
                  <a:lnTo>
                    <a:pt x="0" y="2999232"/>
                  </a:lnTo>
                  <a:close/>
                </a:path>
              </a:pathLst>
            </a:custGeom>
            <a:blipFill rotWithShape="0">
              <a:blip r:embed="rId1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3" name="TextBox 9"/>
            <p:cNvSpPr/>
            <p:nvPr/>
          </p:nvSpPr>
          <p:spPr>
            <a:xfrm>
              <a:off x="5204160" y="1297080"/>
              <a:ext cx="11884680" cy="21348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defTabSz="914400">
                <a:lnSpc>
                  <a:spcPts val="7200"/>
                </a:lnSpc>
              </a:pPr>
              <a:r>
                <a:rPr b="0" lang="en-US" sz="7500" spc="164" strike="noStrike" u="none">
                  <a:solidFill>
                    <a:srgbClr val="ffffff"/>
                  </a:solidFill>
                  <a:effectLst/>
                  <a:uFillTx/>
                  <a:latin typeface="Big Shoulders Display"/>
                  <a:ea typeface="Big Shoulders Display"/>
                </a:rPr>
                <a:t>System Design</a:t>
              </a:r>
              <a:endParaRPr b="0" lang="en-IN" sz="75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44" name="Group 10"/>
          <p:cNvGrpSpPr/>
          <p:nvPr/>
        </p:nvGrpSpPr>
        <p:grpSpPr>
          <a:xfrm>
            <a:off x="712800" y="726840"/>
            <a:ext cx="3193200" cy="8821080"/>
            <a:chOff x="712800" y="726840"/>
            <a:chExt cx="3193200" cy="8821080"/>
          </a:xfrm>
        </p:grpSpPr>
        <p:sp>
          <p:nvSpPr>
            <p:cNvPr id="145" name="Freeform 11"/>
            <p:cNvSpPr/>
            <p:nvPr/>
          </p:nvSpPr>
          <p:spPr>
            <a:xfrm>
              <a:off x="712800" y="726840"/>
              <a:ext cx="3193200" cy="8821080"/>
            </a:xfrm>
            <a:custGeom>
              <a:avLst/>
              <a:gdLst>
                <a:gd name="textAreaLeft" fmla="*/ 0 w 3193200"/>
                <a:gd name="textAreaRight" fmla="*/ 3193560 w 3193200"/>
                <a:gd name="textAreaTop" fmla="*/ 0 h 8821080"/>
                <a:gd name="textAreaBottom" fmla="*/ 8821440 h 8821080"/>
              </a:gdLst>
              <a:ahLst/>
              <a:cxnLst/>
              <a:rect l="textAreaLeft" t="textAreaTop" r="textAreaRight" b="textAreaBottom"/>
              <a:pathLst>
                <a:path w="4257929" h="11761851">
                  <a:moveTo>
                    <a:pt x="0" y="0"/>
                  </a:moveTo>
                  <a:lnTo>
                    <a:pt x="4257929" y="0"/>
                  </a:lnTo>
                  <a:lnTo>
                    <a:pt x="4257929" y="11761851"/>
                  </a:lnTo>
                  <a:lnTo>
                    <a:pt x="0" y="11761851"/>
                  </a:lnTo>
                  <a:close/>
                </a:path>
              </a:pathLst>
            </a:custGeom>
            <a:solidFill>
              <a:srgbClr val="1cade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46" name="AutoShape 12"/>
          <p:cNvSpPr/>
          <p:nvPr/>
        </p:nvSpPr>
        <p:spPr>
          <a:xfrm flipV="1">
            <a:off x="4796280" y="1520280"/>
            <a:ext cx="28800" cy="1400040"/>
          </a:xfrm>
          <a:prstGeom prst="line">
            <a:avLst/>
          </a:prstGeom>
          <a:ln cap="rnd" w="19050">
            <a:solidFill>
              <a:srgbClr val="1cade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" name="TextBox 13"/>
          <p:cNvSpPr/>
          <p:nvPr/>
        </p:nvSpPr>
        <p:spPr>
          <a:xfrm>
            <a:off x="5249880" y="3789000"/>
            <a:ext cx="11793240" cy="328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2917"/>
              </a:lnSpc>
            </a:pPr>
            <a:r>
              <a:rPr b="0" lang="en-US" sz="27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Modules:</a:t>
            </a:r>
            <a:endParaRPr b="0" lang="en-IN" sz="2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582840" indent="-291600" defTabSz="914400">
              <a:lnSpc>
                <a:spcPts val="2917"/>
              </a:lnSpc>
              <a:buClr>
                <a:srgbClr val="ffffff"/>
              </a:buClr>
              <a:buFont typeface="OpenSymbol"/>
              <a:buAutoNum type="arabicPeriod"/>
            </a:pPr>
            <a:r>
              <a:rPr b="0" lang="en-US" sz="27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Barcode Input</a:t>
            </a:r>
            <a:endParaRPr b="0" lang="en-IN" sz="2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582840" indent="-291600" defTabSz="914400">
              <a:lnSpc>
                <a:spcPts val="2917"/>
              </a:lnSpc>
              <a:buClr>
                <a:srgbClr val="ffffff"/>
              </a:buClr>
              <a:buFont typeface="OpenSymbol"/>
              <a:buAutoNum type="arabicPeriod"/>
            </a:pPr>
            <a:r>
              <a:rPr b="0" lang="en-US" sz="27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Product Fetching (HashMap)</a:t>
            </a:r>
            <a:endParaRPr b="0" lang="en-IN" sz="2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582840" indent="-291600" defTabSz="914400">
              <a:lnSpc>
                <a:spcPts val="2917"/>
              </a:lnSpc>
              <a:buClr>
                <a:srgbClr val="ffffff"/>
              </a:buClr>
              <a:buFont typeface="OpenSymbol"/>
              <a:buAutoNum type="arabicPeriod"/>
            </a:pPr>
            <a:r>
              <a:rPr b="0" lang="en-US" sz="27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Billing Calculation</a:t>
            </a:r>
            <a:endParaRPr b="0" lang="en-IN" sz="2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582840" indent="-291600" defTabSz="914400">
              <a:lnSpc>
                <a:spcPts val="2917"/>
              </a:lnSpc>
              <a:buClr>
                <a:srgbClr val="ffffff"/>
              </a:buClr>
              <a:buFont typeface="OpenSymbol"/>
              <a:buAutoNum type="arabicPeriod"/>
            </a:pPr>
            <a:r>
              <a:rPr b="0" lang="en-US" sz="27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Discount Module</a:t>
            </a:r>
            <a:endParaRPr b="0" lang="en-IN" sz="2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582840" indent="-291600" defTabSz="914400">
              <a:lnSpc>
                <a:spcPts val="2917"/>
              </a:lnSpc>
              <a:buClr>
                <a:srgbClr val="ffffff"/>
              </a:buClr>
              <a:buFont typeface="OpenSymbol"/>
              <a:buAutoNum type="arabicPeriod"/>
            </a:pPr>
            <a:r>
              <a:rPr b="0" lang="en-US" sz="27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Bill Generation</a:t>
            </a:r>
            <a:endParaRPr b="0" lang="en-IN" sz="2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917"/>
              </a:lnSpc>
            </a:pPr>
            <a:r>
              <a:rPr b="0" lang="en-US" sz="27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 Flow:</a:t>
            </a:r>
            <a:endParaRPr b="0" lang="en-IN" sz="2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917"/>
              </a:lnSpc>
            </a:pPr>
            <a:r>
              <a:rPr b="0" lang="en-US" sz="27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 Barcode → Product → Quantity → Total → Discount → Final Bill</a:t>
            </a:r>
            <a:endParaRPr b="0" lang="en-IN" sz="2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917"/>
              </a:lnSpc>
            </a:pP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48" name="Group 14"/>
          <p:cNvGrpSpPr/>
          <p:nvPr/>
        </p:nvGrpSpPr>
        <p:grpSpPr>
          <a:xfrm>
            <a:off x="849600" y="982080"/>
            <a:ext cx="2816640" cy="703800"/>
            <a:chOff x="849600" y="982080"/>
            <a:chExt cx="2816640" cy="703800"/>
          </a:xfrm>
        </p:grpSpPr>
        <p:sp>
          <p:nvSpPr>
            <p:cNvPr id="149" name="Freeform 15" descr="A blue and red logo  AI-generated content may be incorrect."/>
            <p:cNvSpPr/>
            <p:nvPr/>
          </p:nvSpPr>
          <p:spPr>
            <a:xfrm>
              <a:off x="849600" y="982080"/>
              <a:ext cx="2816640" cy="703800"/>
            </a:xfrm>
            <a:custGeom>
              <a:avLst/>
              <a:gdLst>
                <a:gd name="textAreaLeft" fmla="*/ 0 w 2816640"/>
                <a:gd name="textAreaRight" fmla="*/ 2817000 w 2816640"/>
                <a:gd name="textAreaTop" fmla="*/ 0 h 703800"/>
                <a:gd name="textAreaBottom" fmla="*/ 704160 h 703800"/>
              </a:gdLst>
              <a:ahLst/>
              <a:cxnLst/>
              <a:rect l="textAreaLeft" t="textAreaTop" r="textAreaRight" b="textAreaBottom"/>
              <a:pathLst>
                <a:path w="3756025" h="939038">
                  <a:moveTo>
                    <a:pt x="0" y="0"/>
                  </a:moveTo>
                  <a:lnTo>
                    <a:pt x="3756025" y="0"/>
                  </a:lnTo>
                  <a:lnTo>
                    <a:pt x="3756025" y="939038"/>
                  </a:lnTo>
                  <a:lnTo>
                    <a:pt x="0" y="939038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2"/>
              <a:srcRect/>
              <a:stretch>
                <a:fillRect r="-33333" b="-33350"/>
              </a:stretch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50" name="Group 16"/>
          <p:cNvGrpSpPr/>
          <p:nvPr/>
        </p:nvGrpSpPr>
        <p:grpSpPr>
          <a:xfrm>
            <a:off x="849600" y="884880"/>
            <a:ext cx="2816640" cy="8419680"/>
            <a:chOff x="849600" y="884880"/>
            <a:chExt cx="2816640" cy="8419680"/>
          </a:xfrm>
        </p:grpSpPr>
        <p:sp>
          <p:nvSpPr>
            <p:cNvPr id="151" name="Freeform 17"/>
            <p:cNvSpPr/>
            <p:nvPr/>
          </p:nvSpPr>
          <p:spPr>
            <a:xfrm>
              <a:off x="849600" y="884880"/>
              <a:ext cx="2816640" cy="8419320"/>
            </a:xfrm>
            <a:custGeom>
              <a:avLst/>
              <a:gdLst>
                <a:gd name="textAreaLeft" fmla="*/ 0 w 2816640"/>
                <a:gd name="textAreaRight" fmla="*/ 2817000 w 2816640"/>
                <a:gd name="textAreaTop" fmla="*/ 0 h 8419320"/>
                <a:gd name="textAreaBottom" fmla="*/ 8419680 h 8419320"/>
              </a:gdLst>
              <a:ahLst/>
              <a:cxnLst/>
              <a:rect l="textAreaLeft" t="textAreaTop" r="textAreaRight" b="textAreaBottom"/>
              <a:pathLst>
                <a:path w="3755980" h="11226474">
                  <a:moveTo>
                    <a:pt x="0" y="0"/>
                  </a:moveTo>
                  <a:lnTo>
                    <a:pt x="3755980" y="0"/>
                  </a:lnTo>
                  <a:lnTo>
                    <a:pt x="3755980" y="11226474"/>
                  </a:lnTo>
                  <a:lnTo>
                    <a:pt x="0" y="11226474"/>
                  </a:lnTo>
                  <a:close/>
                </a:path>
              </a:pathLst>
            </a:custGeom>
            <a:blipFill rotWithShape="0">
              <a:blip r:embed="rId3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2" name="TextBox 18"/>
            <p:cNvSpPr/>
            <p:nvPr/>
          </p:nvSpPr>
          <p:spPr>
            <a:xfrm>
              <a:off x="849600" y="934920"/>
              <a:ext cx="2816640" cy="83696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defTabSz="914400">
                <a:lnSpc>
                  <a:spcPts val="2880"/>
                </a:lnSpc>
              </a:pPr>
              <a:r>
                <a:rPr b="0" lang="en-US" sz="3000" spc="156" strike="noStrike" u="none">
                  <a:solidFill>
                    <a:srgbClr val="ffffff"/>
                  </a:solidFill>
                  <a:effectLst/>
                  <a:uFillTx/>
                  <a:latin typeface="Big Shoulders Display"/>
                  <a:ea typeface="Big Shoulders Display"/>
                </a:rPr>
                <a:t>JAVA Programming Project Presentation</a:t>
              </a:r>
              <a:endParaRPr b="0" lang="en-IN" sz="30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f4fbfe"/>
            </a:gs>
            <a:gs pos="74000">
              <a:srgbClr val="99daf3"/>
            </a:gs>
            <a:gs pos="83000">
              <a:srgbClr val="99daf3"/>
            </a:gs>
            <a:gs pos="100000">
              <a:srgbClr val="bbe6f7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AutoShape 2"/>
          <p:cNvSpPr/>
          <p:nvPr/>
        </p:nvSpPr>
        <p:spPr>
          <a:xfrm flipV="1">
            <a:off x="1128600" y="1215360"/>
            <a:ext cx="28440" cy="1400400"/>
          </a:xfrm>
          <a:prstGeom prst="line">
            <a:avLst/>
          </a:prstGeom>
          <a:ln cap="rnd" w="19050">
            <a:solidFill>
              <a:srgbClr val="1cade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54" name="Group 3"/>
          <p:cNvGrpSpPr/>
          <p:nvPr/>
        </p:nvGrpSpPr>
        <p:grpSpPr>
          <a:xfrm>
            <a:off x="0" y="0"/>
            <a:ext cx="18287640" cy="10286640"/>
            <a:chOff x="0" y="0"/>
            <a:chExt cx="18287640" cy="10286640"/>
          </a:xfrm>
        </p:grpSpPr>
        <p:sp>
          <p:nvSpPr>
            <p:cNvPr id="155" name="Freeform 4"/>
            <p:cNvSpPr/>
            <p:nvPr/>
          </p:nvSpPr>
          <p:spPr>
            <a:xfrm>
              <a:off x="0" y="0"/>
              <a:ext cx="18287640" cy="10286640"/>
            </a:xfrm>
            <a:custGeom>
              <a:avLst/>
              <a:gdLst>
                <a:gd name="textAreaLeft" fmla="*/ 0 w 18287640"/>
                <a:gd name="textAreaRight" fmla="*/ 18288000 w 18287640"/>
                <a:gd name="textAreaTop" fmla="*/ 0 h 10286640"/>
                <a:gd name="textAreaBottom" fmla="*/ 10287000 h 10286640"/>
              </a:gdLst>
              <a:ahLst/>
              <a:cxnLst/>
              <a:rect l="textAreaLeft" t="textAreaTop" r="textAreaRight" b="textAreaBottom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56" name="Group 5"/>
          <p:cNvGrpSpPr/>
          <p:nvPr/>
        </p:nvGrpSpPr>
        <p:grpSpPr>
          <a:xfrm>
            <a:off x="4159080" y="726840"/>
            <a:ext cx="13421880" cy="8821080"/>
            <a:chOff x="4159080" y="726840"/>
            <a:chExt cx="13421880" cy="8821080"/>
          </a:xfrm>
        </p:grpSpPr>
        <p:sp>
          <p:nvSpPr>
            <p:cNvPr id="157" name="Freeform 6"/>
            <p:cNvSpPr/>
            <p:nvPr/>
          </p:nvSpPr>
          <p:spPr>
            <a:xfrm>
              <a:off x="4159080" y="726840"/>
              <a:ext cx="13421880" cy="8821080"/>
            </a:xfrm>
            <a:custGeom>
              <a:avLst/>
              <a:gdLst>
                <a:gd name="textAreaLeft" fmla="*/ 0 w 13421880"/>
                <a:gd name="textAreaRight" fmla="*/ 13422240 w 13421880"/>
                <a:gd name="textAreaTop" fmla="*/ 0 h 8821080"/>
                <a:gd name="textAreaBottom" fmla="*/ 8821440 h 8821080"/>
              </a:gdLst>
              <a:ahLst/>
              <a:cxnLst/>
              <a:rect l="textAreaLeft" t="textAreaTop" r="textAreaRight" b="textAreaBottom"/>
              <a:pathLst>
                <a:path w="17896332" h="11761851">
                  <a:moveTo>
                    <a:pt x="0" y="0"/>
                  </a:moveTo>
                  <a:lnTo>
                    <a:pt x="17896332" y="0"/>
                  </a:lnTo>
                  <a:lnTo>
                    <a:pt x="17896332" y="11761851"/>
                  </a:lnTo>
                  <a:lnTo>
                    <a:pt x="0" y="11761851"/>
                  </a:lnTo>
                  <a:close/>
                </a:path>
              </a:pathLst>
            </a:custGeom>
            <a:solidFill>
              <a:srgbClr val="40404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IN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58" name="Group 7"/>
          <p:cNvGrpSpPr/>
          <p:nvPr/>
        </p:nvGrpSpPr>
        <p:grpSpPr>
          <a:xfrm>
            <a:off x="5204160" y="1182600"/>
            <a:ext cx="11884680" cy="2249280"/>
            <a:chOff x="5204160" y="1182600"/>
            <a:chExt cx="11884680" cy="2249280"/>
          </a:xfrm>
        </p:grpSpPr>
        <p:sp>
          <p:nvSpPr>
            <p:cNvPr id="159" name="Freeform 8"/>
            <p:cNvSpPr/>
            <p:nvPr/>
          </p:nvSpPr>
          <p:spPr>
            <a:xfrm>
              <a:off x="5204160" y="1182600"/>
              <a:ext cx="11884680" cy="2248920"/>
            </a:xfrm>
            <a:custGeom>
              <a:avLst/>
              <a:gdLst>
                <a:gd name="textAreaLeft" fmla="*/ 0 w 11884680"/>
                <a:gd name="textAreaRight" fmla="*/ 11885040 w 11884680"/>
                <a:gd name="textAreaTop" fmla="*/ 0 h 2248920"/>
                <a:gd name="textAreaBottom" fmla="*/ 2249280 h 2248920"/>
              </a:gdLst>
              <a:ahLst/>
              <a:cxnLst/>
              <a:rect l="textAreaLeft" t="textAreaTop" r="textAreaRight" b="textAreaBottom"/>
              <a:pathLst>
                <a:path w="15846529" h="2999232">
                  <a:moveTo>
                    <a:pt x="0" y="0"/>
                  </a:moveTo>
                  <a:lnTo>
                    <a:pt x="15846529" y="0"/>
                  </a:lnTo>
                  <a:lnTo>
                    <a:pt x="15846529" y="2999232"/>
                  </a:lnTo>
                  <a:lnTo>
                    <a:pt x="0" y="2999232"/>
                  </a:lnTo>
                  <a:close/>
                </a:path>
              </a:pathLst>
            </a:custGeom>
            <a:blipFill rotWithShape="0">
              <a:blip r:embed="rId1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0" name="TextBox 9"/>
            <p:cNvSpPr/>
            <p:nvPr/>
          </p:nvSpPr>
          <p:spPr>
            <a:xfrm>
              <a:off x="5204160" y="1297080"/>
              <a:ext cx="11884680" cy="21348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defTabSz="914400">
                <a:lnSpc>
                  <a:spcPts val="7200"/>
                </a:lnSpc>
              </a:pPr>
              <a:r>
                <a:rPr b="0" lang="en-US" sz="7500" spc="164" strike="noStrike" u="none">
                  <a:solidFill>
                    <a:srgbClr val="ffffff"/>
                  </a:solidFill>
                  <a:effectLst/>
                  <a:uFillTx/>
                  <a:latin typeface="Big Shoulders Display"/>
                  <a:ea typeface="Big Shoulders Display"/>
                </a:rPr>
                <a:t>Module Description</a:t>
              </a:r>
              <a:endParaRPr b="0" lang="en-IN" sz="75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61" name="Group 10"/>
          <p:cNvGrpSpPr/>
          <p:nvPr/>
        </p:nvGrpSpPr>
        <p:grpSpPr>
          <a:xfrm>
            <a:off x="712800" y="726840"/>
            <a:ext cx="3193200" cy="8821080"/>
            <a:chOff x="712800" y="726840"/>
            <a:chExt cx="3193200" cy="8821080"/>
          </a:xfrm>
        </p:grpSpPr>
        <p:sp>
          <p:nvSpPr>
            <p:cNvPr id="162" name="Freeform 11"/>
            <p:cNvSpPr/>
            <p:nvPr/>
          </p:nvSpPr>
          <p:spPr>
            <a:xfrm>
              <a:off x="712800" y="726840"/>
              <a:ext cx="3193200" cy="8821080"/>
            </a:xfrm>
            <a:custGeom>
              <a:avLst/>
              <a:gdLst>
                <a:gd name="textAreaLeft" fmla="*/ 0 w 3193200"/>
                <a:gd name="textAreaRight" fmla="*/ 3193560 w 3193200"/>
                <a:gd name="textAreaTop" fmla="*/ 0 h 8821080"/>
                <a:gd name="textAreaBottom" fmla="*/ 8821440 h 8821080"/>
              </a:gdLst>
              <a:ahLst/>
              <a:cxnLst/>
              <a:rect l="textAreaLeft" t="textAreaTop" r="textAreaRight" b="textAreaBottom"/>
              <a:pathLst>
                <a:path w="4257929" h="11761851">
                  <a:moveTo>
                    <a:pt x="0" y="0"/>
                  </a:moveTo>
                  <a:lnTo>
                    <a:pt x="4257929" y="0"/>
                  </a:lnTo>
                  <a:lnTo>
                    <a:pt x="4257929" y="11761851"/>
                  </a:lnTo>
                  <a:lnTo>
                    <a:pt x="0" y="11761851"/>
                  </a:lnTo>
                  <a:close/>
                </a:path>
              </a:pathLst>
            </a:custGeom>
            <a:solidFill>
              <a:srgbClr val="1cade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63" name="AutoShape 12"/>
          <p:cNvSpPr/>
          <p:nvPr/>
        </p:nvSpPr>
        <p:spPr>
          <a:xfrm flipV="1">
            <a:off x="4796280" y="1520280"/>
            <a:ext cx="28800" cy="1400040"/>
          </a:xfrm>
          <a:prstGeom prst="line">
            <a:avLst/>
          </a:prstGeom>
          <a:ln cap="rnd" w="19050">
            <a:solidFill>
              <a:srgbClr val="1cade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" name="TextBox 13"/>
          <p:cNvSpPr/>
          <p:nvPr/>
        </p:nvSpPr>
        <p:spPr>
          <a:xfrm>
            <a:off x="5249880" y="3789000"/>
            <a:ext cx="11793240" cy="509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2917"/>
              </a:lnSpc>
            </a:pP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917"/>
              </a:lnSpc>
            </a:pPr>
            <a:r>
              <a:rPr b="0" lang="en-US" sz="27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1. Input Module:</a:t>
            </a:r>
            <a:endParaRPr b="0" lang="en-IN" sz="2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582840" indent="-291600" defTabSz="914400">
              <a:lnSpc>
                <a:spcPts val="2917"/>
              </a:lnSpc>
              <a:buClr>
                <a:srgbClr val="ffffff"/>
              </a:buClr>
              <a:buFont typeface="Arial"/>
              <a:buChar char="•"/>
            </a:pPr>
            <a:r>
              <a:rPr b="0" lang="en-US" sz="27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User enters/scans barcode</a:t>
            </a:r>
            <a:endParaRPr b="0" lang="en-IN" sz="2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582840" indent="-291600" defTabSz="914400">
              <a:lnSpc>
                <a:spcPts val="2917"/>
              </a:lnSpc>
              <a:buClr>
                <a:srgbClr val="ffffff"/>
              </a:buClr>
              <a:buFont typeface="Arial"/>
              <a:buChar char="•"/>
            </a:pPr>
            <a:r>
              <a:rPr b="0" lang="en-US" sz="27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Enters quantity</a:t>
            </a:r>
            <a:endParaRPr b="0" lang="en-IN" sz="2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917"/>
              </a:lnSpc>
            </a:pPr>
            <a:r>
              <a:rPr b="0" lang="en-US" sz="27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2. Processing Module:</a:t>
            </a:r>
            <a:endParaRPr b="0" lang="en-IN" sz="2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582840" indent="-291600" defTabSz="914400">
              <a:lnSpc>
                <a:spcPts val="2917"/>
              </a:lnSpc>
              <a:buClr>
                <a:srgbClr val="ffffff"/>
              </a:buClr>
              <a:buFont typeface="Arial"/>
              <a:buChar char="•"/>
            </a:pPr>
            <a:r>
              <a:rPr b="0" lang="en-US" sz="27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Fetch product name &amp; price</a:t>
            </a:r>
            <a:endParaRPr b="0" lang="en-IN" sz="2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582840" indent="-291600" defTabSz="914400">
              <a:lnSpc>
                <a:spcPts val="2917"/>
              </a:lnSpc>
              <a:buClr>
                <a:srgbClr val="ffffff"/>
              </a:buClr>
              <a:buFont typeface="Arial"/>
              <a:buChar char="•"/>
            </a:pPr>
            <a:r>
              <a:rPr b="0" lang="en-US" sz="27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Calculate total = price × quantity</a:t>
            </a:r>
            <a:endParaRPr b="0" lang="en-IN" sz="2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917"/>
              </a:lnSpc>
            </a:pPr>
            <a:r>
              <a:rPr b="0" lang="en-US" sz="27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3. Discount Module:</a:t>
            </a:r>
            <a:endParaRPr b="0" lang="en-IN" sz="2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582840" indent="-291600" defTabSz="914400">
              <a:lnSpc>
                <a:spcPts val="2917"/>
              </a:lnSpc>
              <a:buClr>
                <a:srgbClr val="ffffff"/>
              </a:buClr>
              <a:buFont typeface="Arial"/>
              <a:buChar char="•"/>
            </a:pPr>
            <a:r>
              <a:rPr b="0" lang="en-US" sz="27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User enters discount %</a:t>
            </a:r>
            <a:endParaRPr b="0" lang="en-IN" sz="2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582840" indent="-291600" defTabSz="914400">
              <a:lnSpc>
                <a:spcPts val="2917"/>
              </a:lnSpc>
              <a:buClr>
                <a:srgbClr val="ffffff"/>
              </a:buClr>
              <a:buFont typeface="Arial"/>
              <a:buChar char="•"/>
            </a:pPr>
            <a:r>
              <a:rPr b="0" lang="en-US" sz="27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Calculates discount amount</a:t>
            </a:r>
            <a:endParaRPr b="0" lang="en-IN" sz="2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917"/>
              </a:lnSpc>
            </a:pPr>
            <a:r>
              <a:rPr b="0" lang="en-US" sz="27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4. Output Module:</a:t>
            </a:r>
            <a:endParaRPr b="0" lang="en-IN" sz="2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582840" indent="-291600" defTabSz="914400">
              <a:lnSpc>
                <a:spcPts val="2917"/>
              </a:lnSpc>
              <a:buClr>
                <a:srgbClr val="ffffff"/>
              </a:buClr>
              <a:buFont typeface="Arial"/>
              <a:buChar char="•"/>
            </a:pPr>
            <a:r>
              <a:rPr b="0" lang="en-US" sz="27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Displays bill summary</a:t>
            </a:r>
            <a:endParaRPr b="0" lang="en-IN" sz="2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582840" indent="-291600" defTabSz="914400">
              <a:lnSpc>
                <a:spcPts val="2917"/>
              </a:lnSpc>
              <a:buClr>
                <a:srgbClr val="ffffff"/>
              </a:buClr>
              <a:buFont typeface="Arial"/>
              <a:buChar char="•"/>
            </a:pPr>
            <a:r>
              <a:rPr b="0" lang="en-US" sz="27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Shows final amount</a:t>
            </a:r>
            <a:endParaRPr b="0" lang="en-IN" sz="2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917"/>
              </a:lnSpc>
            </a:pP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65" name="Group 14"/>
          <p:cNvGrpSpPr/>
          <p:nvPr/>
        </p:nvGrpSpPr>
        <p:grpSpPr>
          <a:xfrm>
            <a:off x="849600" y="982080"/>
            <a:ext cx="2816640" cy="703800"/>
            <a:chOff x="849600" y="982080"/>
            <a:chExt cx="2816640" cy="703800"/>
          </a:xfrm>
        </p:grpSpPr>
        <p:sp>
          <p:nvSpPr>
            <p:cNvPr id="166" name="Freeform 15" descr="A blue and red logo  AI-generated content may be incorrect."/>
            <p:cNvSpPr/>
            <p:nvPr/>
          </p:nvSpPr>
          <p:spPr>
            <a:xfrm>
              <a:off x="849600" y="982080"/>
              <a:ext cx="2816640" cy="703800"/>
            </a:xfrm>
            <a:custGeom>
              <a:avLst/>
              <a:gdLst>
                <a:gd name="textAreaLeft" fmla="*/ 0 w 2816640"/>
                <a:gd name="textAreaRight" fmla="*/ 2817000 w 2816640"/>
                <a:gd name="textAreaTop" fmla="*/ 0 h 703800"/>
                <a:gd name="textAreaBottom" fmla="*/ 704160 h 703800"/>
              </a:gdLst>
              <a:ahLst/>
              <a:cxnLst/>
              <a:rect l="textAreaLeft" t="textAreaTop" r="textAreaRight" b="textAreaBottom"/>
              <a:pathLst>
                <a:path w="3756025" h="939038">
                  <a:moveTo>
                    <a:pt x="0" y="0"/>
                  </a:moveTo>
                  <a:lnTo>
                    <a:pt x="3756025" y="0"/>
                  </a:lnTo>
                  <a:lnTo>
                    <a:pt x="3756025" y="939038"/>
                  </a:lnTo>
                  <a:lnTo>
                    <a:pt x="0" y="939038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2"/>
              <a:srcRect/>
              <a:stretch>
                <a:fillRect r="-33333" b="-33350"/>
              </a:stretch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67" name="Group 16"/>
          <p:cNvGrpSpPr/>
          <p:nvPr/>
        </p:nvGrpSpPr>
        <p:grpSpPr>
          <a:xfrm>
            <a:off x="849600" y="884880"/>
            <a:ext cx="2816640" cy="8419680"/>
            <a:chOff x="849600" y="884880"/>
            <a:chExt cx="2816640" cy="8419680"/>
          </a:xfrm>
        </p:grpSpPr>
        <p:sp>
          <p:nvSpPr>
            <p:cNvPr id="168" name="Freeform 17"/>
            <p:cNvSpPr/>
            <p:nvPr/>
          </p:nvSpPr>
          <p:spPr>
            <a:xfrm>
              <a:off x="849600" y="884880"/>
              <a:ext cx="2816640" cy="8419320"/>
            </a:xfrm>
            <a:custGeom>
              <a:avLst/>
              <a:gdLst>
                <a:gd name="textAreaLeft" fmla="*/ 0 w 2816640"/>
                <a:gd name="textAreaRight" fmla="*/ 2817000 w 2816640"/>
                <a:gd name="textAreaTop" fmla="*/ 0 h 8419320"/>
                <a:gd name="textAreaBottom" fmla="*/ 8419680 h 8419320"/>
              </a:gdLst>
              <a:ahLst/>
              <a:cxnLst/>
              <a:rect l="textAreaLeft" t="textAreaTop" r="textAreaRight" b="textAreaBottom"/>
              <a:pathLst>
                <a:path w="3755980" h="11226474">
                  <a:moveTo>
                    <a:pt x="0" y="0"/>
                  </a:moveTo>
                  <a:lnTo>
                    <a:pt x="3755980" y="0"/>
                  </a:lnTo>
                  <a:lnTo>
                    <a:pt x="3755980" y="11226474"/>
                  </a:lnTo>
                  <a:lnTo>
                    <a:pt x="0" y="11226474"/>
                  </a:lnTo>
                  <a:close/>
                </a:path>
              </a:pathLst>
            </a:custGeom>
            <a:blipFill rotWithShape="0">
              <a:blip r:embed="rId3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9" name="TextBox 18"/>
            <p:cNvSpPr/>
            <p:nvPr/>
          </p:nvSpPr>
          <p:spPr>
            <a:xfrm>
              <a:off x="849600" y="934920"/>
              <a:ext cx="2816640" cy="83696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defTabSz="914400">
                <a:lnSpc>
                  <a:spcPts val="2880"/>
                </a:lnSpc>
              </a:pPr>
              <a:r>
                <a:rPr b="0" lang="en-US" sz="3000" spc="156" strike="noStrike" u="none">
                  <a:solidFill>
                    <a:srgbClr val="ffffff"/>
                  </a:solidFill>
                  <a:effectLst/>
                  <a:uFillTx/>
                  <a:latin typeface="Big Shoulders Display"/>
                  <a:ea typeface="Big Shoulders Display"/>
                </a:rPr>
                <a:t>JAVA Programming Project Presentation</a:t>
              </a:r>
              <a:endParaRPr b="0" lang="en-IN" sz="30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f4fbfe"/>
            </a:gs>
            <a:gs pos="74000">
              <a:srgbClr val="99daf3"/>
            </a:gs>
            <a:gs pos="83000">
              <a:srgbClr val="99daf3"/>
            </a:gs>
            <a:gs pos="100000">
              <a:srgbClr val="bbe6f7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AutoShape 2"/>
          <p:cNvSpPr/>
          <p:nvPr/>
        </p:nvSpPr>
        <p:spPr>
          <a:xfrm flipV="1">
            <a:off x="1128600" y="1215360"/>
            <a:ext cx="28440" cy="1400400"/>
          </a:xfrm>
          <a:prstGeom prst="line">
            <a:avLst/>
          </a:prstGeom>
          <a:ln cap="rnd" w="19050">
            <a:solidFill>
              <a:srgbClr val="1cade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71" name="Group 3"/>
          <p:cNvGrpSpPr/>
          <p:nvPr/>
        </p:nvGrpSpPr>
        <p:grpSpPr>
          <a:xfrm>
            <a:off x="0" y="0"/>
            <a:ext cx="18287640" cy="10286640"/>
            <a:chOff x="0" y="0"/>
            <a:chExt cx="18287640" cy="10286640"/>
          </a:xfrm>
        </p:grpSpPr>
        <p:sp>
          <p:nvSpPr>
            <p:cNvPr id="172" name="Freeform 4"/>
            <p:cNvSpPr/>
            <p:nvPr/>
          </p:nvSpPr>
          <p:spPr>
            <a:xfrm>
              <a:off x="0" y="0"/>
              <a:ext cx="18287640" cy="10286640"/>
            </a:xfrm>
            <a:custGeom>
              <a:avLst/>
              <a:gdLst>
                <a:gd name="textAreaLeft" fmla="*/ 0 w 18287640"/>
                <a:gd name="textAreaRight" fmla="*/ 18288000 w 18287640"/>
                <a:gd name="textAreaTop" fmla="*/ 0 h 10286640"/>
                <a:gd name="textAreaBottom" fmla="*/ 10287000 h 10286640"/>
              </a:gdLst>
              <a:ahLst/>
              <a:cxnLst/>
              <a:rect l="textAreaLeft" t="textAreaTop" r="textAreaRight" b="textAreaBottom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73" name="Group 5"/>
          <p:cNvGrpSpPr/>
          <p:nvPr/>
        </p:nvGrpSpPr>
        <p:grpSpPr>
          <a:xfrm>
            <a:off x="4159080" y="726840"/>
            <a:ext cx="13421880" cy="8821080"/>
            <a:chOff x="4159080" y="726840"/>
            <a:chExt cx="13421880" cy="8821080"/>
          </a:xfrm>
        </p:grpSpPr>
        <p:sp>
          <p:nvSpPr>
            <p:cNvPr id="174" name="Freeform 6"/>
            <p:cNvSpPr/>
            <p:nvPr/>
          </p:nvSpPr>
          <p:spPr>
            <a:xfrm>
              <a:off x="4159080" y="726840"/>
              <a:ext cx="13421880" cy="8821080"/>
            </a:xfrm>
            <a:custGeom>
              <a:avLst/>
              <a:gdLst>
                <a:gd name="textAreaLeft" fmla="*/ 0 w 13421880"/>
                <a:gd name="textAreaRight" fmla="*/ 13422240 w 13421880"/>
                <a:gd name="textAreaTop" fmla="*/ 0 h 8821080"/>
                <a:gd name="textAreaBottom" fmla="*/ 8821440 h 8821080"/>
              </a:gdLst>
              <a:ahLst/>
              <a:cxnLst/>
              <a:rect l="textAreaLeft" t="textAreaTop" r="textAreaRight" b="textAreaBottom"/>
              <a:pathLst>
                <a:path w="17896332" h="11761851">
                  <a:moveTo>
                    <a:pt x="0" y="0"/>
                  </a:moveTo>
                  <a:lnTo>
                    <a:pt x="17896332" y="0"/>
                  </a:lnTo>
                  <a:lnTo>
                    <a:pt x="17896332" y="11761851"/>
                  </a:lnTo>
                  <a:lnTo>
                    <a:pt x="0" y="11761851"/>
                  </a:lnTo>
                  <a:close/>
                </a:path>
              </a:pathLst>
            </a:custGeom>
            <a:solidFill>
              <a:srgbClr val="40404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IN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75" name="Group 7"/>
          <p:cNvGrpSpPr/>
          <p:nvPr/>
        </p:nvGrpSpPr>
        <p:grpSpPr>
          <a:xfrm>
            <a:off x="5204160" y="1182600"/>
            <a:ext cx="11884680" cy="2249280"/>
            <a:chOff x="5204160" y="1182600"/>
            <a:chExt cx="11884680" cy="2249280"/>
          </a:xfrm>
        </p:grpSpPr>
        <p:sp>
          <p:nvSpPr>
            <p:cNvPr id="176" name="Freeform 8"/>
            <p:cNvSpPr/>
            <p:nvPr/>
          </p:nvSpPr>
          <p:spPr>
            <a:xfrm>
              <a:off x="5204160" y="1182600"/>
              <a:ext cx="11884680" cy="2248920"/>
            </a:xfrm>
            <a:custGeom>
              <a:avLst/>
              <a:gdLst>
                <a:gd name="textAreaLeft" fmla="*/ 0 w 11884680"/>
                <a:gd name="textAreaRight" fmla="*/ 11885040 w 11884680"/>
                <a:gd name="textAreaTop" fmla="*/ 0 h 2248920"/>
                <a:gd name="textAreaBottom" fmla="*/ 2249280 h 2248920"/>
              </a:gdLst>
              <a:ahLst/>
              <a:cxnLst/>
              <a:rect l="textAreaLeft" t="textAreaTop" r="textAreaRight" b="textAreaBottom"/>
              <a:pathLst>
                <a:path w="15846529" h="2999232">
                  <a:moveTo>
                    <a:pt x="0" y="0"/>
                  </a:moveTo>
                  <a:lnTo>
                    <a:pt x="15846529" y="0"/>
                  </a:lnTo>
                  <a:lnTo>
                    <a:pt x="15846529" y="2999232"/>
                  </a:lnTo>
                  <a:lnTo>
                    <a:pt x="0" y="2999232"/>
                  </a:lnTo>
                  <a:close/>
                </a:path>
              </a:pathLst>
            </a:custGeom>
            <a:blipFill rotWithShape="0">
              <a:blip r:embed="rId1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7" name="TextBox 9"/>
            <p:cNvSpPr/>
            <p:nvPr/>
          </p:nvSpPr>
          <p:spPr>
            <a:xfrm>
              <a:off x="5204160" y="1297080"/>
              <a:ext cx="11884680" cy="21348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defTabSz="914400">
                <a:lnSpc>
                  <a:spcPts val="7200"/>
                </a:lnSpc>
              </a:pPr>
              <a:r>
                <a:rPr b="0" lang="en-US" sz="7500" spc="164" strike="noStrike" u="none">
                  <a:solidFill>
                    <a:srgbClr val="ffffff"/>
                  </a:solidFill>
                  <a:effectLst/>
                  <a:uFillTx/>
                  <a:latin typeface="Big Shoulders Display"/>
                  <a:ea typeface="Big Shoulders Display"/>
                </a:rPr>
                <a:t>Algorithm / Flowchart</a:t>
              </a:r>
              <a:endParaRPr b="0" lang="en-IN" sz="75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78" name="Group 10"/>
          <p:cNvGrpSpPr/>
          <p:nvPr/>
        </p:nvGrpSpPr>
        <p:grpSpPr>
          <a:xfrm>
            <a:off x="712800" y="726840"/>
            <a:ext cx="3193200" cy="8821080"/>
            <a:chOff x="712800" y="726840"/>
            <a:chExt cx="3193200" cy="8821080"/>
          </a:xfrm>
        </p:grpSpPr>
        <p:sp>
          <p:nvSpPr>
            <p:cNvPr id="179" name="Freeform 11"/>
            <p:cNvSpPr/>
            <p:nvPr/>
          </p:nvSpPr>
          <p:spPr>
            <a:xfrm>
              <a:off x="712800" y="726840"/>
              <a:ext cx="3193200" cy="8821080"/>
            </a:xfrm>
            <a:custGeom>
              <a:avLst/>
              <a:gdLst>
                <a:gd name="textAreaLeft" fmla="*/ 0 w 3193200"/>
                <a:gd name="textAreaRight" fmla="*/ 3193560 w 3193200"/>
                <a:gd name="textAreaTop" fmla="*/ 0 h 8821080"/>
                <a:gd name="textAreaBottom" fmla="*/ 8821440 h 8821080"/>
              </a:gdLst>
              <a:ahLst/>
              <a:cxnLst/>
              <a:rect l="textAreaLeft" t="textAreaTop" r="textAreaRight" b="textAreaBottom"/>
              <a:pathLst>
                <a:path w="4257929" h="11761851">
                  <a:moveTo>
                    <a:pt x="0" y="0"/>
                  </a:moveTo>
                  <a:lnTo>
                    <a:pt x="4257929" y="0"/>
                  </a:lnTo>
                  <a:lnTo>
                    <a:pt x="4257929" y="11761851"/>
                  </a:lnTo>
                  <a:lnTo>
                    <a:pt x="0" y="11761851"/>
                  </a:lnTo>
                  <a:close/>
                </a:path>
              </a:pathLst>
            </a:custGeom>
            <a:solidFill>
              <a:srgbClr val="1cade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80" name="AutoShape 12"/>
          <p:cNvSpPr/>
          <p:nvPr/>
        </p:nvSpPr>
        <p:spPr>
          <a:xfrm flipV="1">
            <a:off x="4796280" y="1520280"/>
            <a:ext cx="28800" cy="1400040"/>
          </a:xfrm>
          <a:prstGeom prst="line">
            <a:avLst/>
          </a:prstGeom>
          <a:ln cap="rnd" w="19050">
            <a:solidFill>
              <a:srgbClr val="1cade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1" name="TextBox 13"/>
          <p:cNvSpPr/>
          <p:nvPr/>
        </p:nvSpPr>
        <p:spPr>
          <a:xfrm>
            <a:off x="5249880" y="3789000"/>
            <a:ext cx="11793240" cy="473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2917"/>
              </a:lnSpc>
            </a:pP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488520" indent="-244440" defTabSz="914400">
              <a:lnSpc>
                <a:spcPts val="2917"/>
              </a:lnSpc>
              <a:buClr>
                <a:srgbClr val="ffffff"/>
              </a:buClr>
              <a:buFont typeface="Arial"/>
              <a:buChar char="•"/>
            </a:pPr>
            <a:r>
              <a:rPr b="0" lang="en-US" sz="27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Start</a:t>
            </a:r>
            <a:endParaRPr b="0" lang="en-IN" sz="2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488520" indent="-244440" defTabSz="914400">
              <a:lnSpc>
                <a:spcPts val="2917"/>
              </a:lnSpc>
              <a:buClr>
                <a:srgbClr val="ffffff"/>
              </a:buClr>
              <a:buFont typeface="Arial"/>
              <a:buChar char="•"/>
            </a:pPr>
            <a:r>
              <a:rPr b="0" lang="en-US" sz="27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Initialize total = 0</a:t>
            </a:r>
            <a:endParaRPr b="0" lang="en-IN" sz="2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488520" indent="-244440" defTabSz="914400">
              <a:lnSpc>
                <a:spcPts val="2917"/>
              </a:lnSpc>
              <a:buClr>
                <a:srgbClr val="ffffff"/>
              </a:buClr>
              <a:buFont typeface="Arial"/>
              <a:buChar char="•"/>
            </a:pPr>
            <a:r>
              <a:rPr b="0" lang="en-US" sz="27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Enter barcode</a:t>
            </a:r>
            <a:endParaRPr b="0" lang="en-IN" sz="2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488520" indent="-244440" defTabSz="914400">
              <a:lnSpc>
                <a:spcPts val="2917"/>
              </a:lnSpc>
              <a:buClr>
                <a:srgbClr val="ffffff"/>
              </a:buClr>
              <a:buFont typeface="Arial"/>
              <a:buChar char="•"/>
            </a:pPr>
            <a:r>
              <a:rPr b="0" lang="en-US" sz="27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Check product in HashMap</a:t>
            </a:r>
            <a:endParaRPr b="0" lang="en-IN" sz="2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488520" indent="-244440" defTabSz="914400">
              <a:lnSpc>
                <a:spcPts val="2917"/>
              </a:lnSpc>
              <a:buClr>
                <a:srgbClr val="ffffff"/>
              </a:buClr>
              <a:buFont typeface="Arial"/>
              <a:buChar char="•"/>
            </a:pPr>
            <a:r>
              <a:rPr b="0" lang="en-US" sz="27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Display product name &amp; price</a:t>
            </a:r>
            <a:endParaRPr b="0" lang="en-IN" sz="2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488520" indent="-244440" defTabSz="914400">
              <a:lnSpc>
                <a:spcPts val="2917"/>
              </a:lnSpc>
              <a:buClr>
                <a:srgbClr val="ffffff"/>
              </a:buClr>
              <a:buFont typeface="Arial"/>
              <a:buChar char="•"/>
            </a:pPr>
            <a:r>
              <a:rPr b="0" lang="en-US" sz="27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Enter quantity</a:t>
            </a:r>
            <a:endParaRPr b="0" lang="en-IN" sz="2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488520" indent="-244440" defTabSz="914400">
              <a:lnSpc>
                <a:spcPts val="2917"/>
              </a:lnSpc>
              <a:buClr>
                <a:srgbClr val="ffffff"/>
              </a:buClr>
              <a:buFont typeface="Arial"/>
              <a:buChar char="•"/>
            </a:pPr>
            <a:r>
              <a:rPr b="0" lang="en-US" sz="27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Calculate item total</a:t>
            </a:r>
            <a:endParaRPr b="0" lang="en-IN" sz="2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488520" indent="-244440" defTabSz="914400">
              <a:lnSpc>
                <a:spcPts val="2917"/>
              </a:lnSpc>
              <a:buClr>
                <a:srgbClr val="ffffff"/>
              </a:buClr>
              <a:buFont typeface="Arial"/>
              <a:buChar char="•"/>
            </a:pPr>
            <a:r>
              <a:rPr b="0" lang="en-US" sz="27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Add to overall total</a:t>
            </a:r>
            <a:endParaRPr b="0" lang="en-IN" sz="2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488520" indent="-244440" defTabSz="914400">
              <a:lnSpc>
                <a:spcPts val="2917"/>
              </a:lnSpc>
              <a:buClr>
                <a:srgbClr val="ffffff"/>
              </a:buClr>
              <a:buFont typeface="Arial"/>
              <a:buChar char="•"/>
            </a:pPr>
            <a:r>
              <a:rPr b="0" lang="en-US" sz="27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Apply discount</a:t>
            </a:r>
            <a:endParaRPr b="0" lang="en-IN" sz="2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488520" indent="-244440" defTabSz="914400">
              <a:lnSpc>
                <a:spcPts val="2917"/>
              </a:lnSpc>
              <a:buClr>
                <a:srgbClr val="ffffff"/>
              </a:buClr>
              <a:buFont typeface="Arial"/>
              <a:buChar char="•"/>
            </a:pPr>
            <a:r>
              <a:rPr b="0" lang="en-US" sz="27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Generate final bill</a:t>
            </a:r>
            <a:endParaRPr b="0" lang="en-IN" sz="2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488520" indent="-244440" defTabSz="914400">
              <a:lnSpc>
                <a:spcPts val="2917"/>
              </a:lnSpc>
              <a:buClr>
                <a:srgbClr val="ffffff"/>
              </a:buClr>
              <a:buFont typeface="Arial"/>
              <a:buChar char="•"/>
            </a:pPr>
            <a:r>
              <a:rPr b="0" lang="en-US" sz="27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Stop</a:t>
            </a:r>
            <a:endParaRPr b="0" lang="en-IN" sz="2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917"/>
              </a:lnSpc>
            </a:pP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82" name="Group 14"/>
          <p:cNvGrpSpPr/>
          <p:nvPr/>
        </p:nvGrpSpPr>
        <p:grpSpPr>
          <a:xfrm>
            <a:off x="849600" y="982080"/>
            <a:ext cx="2816640" cy="703800"/>
            <a:chOff x="849600" y="982080"/>
            <a:chExt cx="2816640" cy="703800"/>
          </a:xfrm>
        </p:grpSpPr>
        <p:sp>
          <p:nvSpPr>
            <p:cNvPr id="183" name="Freeform 15" descr="A blue and red logo  AI-generated content may be incorrect."/>
            <p:cNvSpPr/>
            <p:nvPr/>
          </p:nvSpPr>
          <p:spPr>
            <a:xfrm>
              <a:off x="849600" y="982080"/>
              <a:ext cx="2816640" cy="703800"/>
            </a:xfrm>
            <a:custGeom>
              <a:avLst/>
              <a:gdLst>
                <a:gd name="textAreaLeft" fmla="*/ 0 w 2816640"/>
                <a:gd name="textAreaRight" fmla="*/ 2817000 w 2816640"/>
                <a:gd name="textAreaTop" fmla="*/ 0 h 703800"/>
                <a:gd name="textAreaBottom" fmla="*/ 704160 h 703800"/>
              </a:gdLst>
              <a:ahLst/>
              <a:cxnLst/>
              <a:rect l="textAreaLeft" t="textAreaTop" r="textAreaRight" b="textAreaBottom"/>
              <a:pathLst>
                <a:path w="3756025" h="939038">
                  <a:moveTo>
                    <a:pt x="0" y="0"/>
                  </a:moveTo>
                  <a:lnTo>
                    <a:pt x="3756025" y="0"/>
                  </a:lnTo>
                  <a:lnTo>
                    <a:pt x="3756025" y="939038"/>
                  </a:lnTo>
                  <a:lnTo>
                    <a:pt x="0" y="939038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2"/>
              <a:srcRect/>
              <a:stretch>
                <a:fillRect r="-33333" b="-33350"/>
              </a:stretch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84" name="Group 16"/>
          <p:cNvGrpSpPr/>
          <p:nvPr/>
        </p:nvGrpSpPr>
        <p:grpSpPr>
          <a:xfrm>
            <a:off x="849600" y="884880"/>
            <a:ext cx="2816640" cy="8419680"/>
            <a:chOff x="849600" y="884880"/>
            <a:chExt cx="2816640" cy="8419680"/>
          </a:xfrm>
        </p:grpSpPr>
        <p:sp>
          <p:nvSpPr>
            <p:cNvPr id="185" name="Freeform 17"/>
            <p:cNvSpPr/>
            <p:nvPr/>
          </p:nvSpPr>
          <p:spPr>
            <a:xfrm>
              <a:off x="849600" y="884880"/>
              <a:ext cx="2816640" cy="8419320"/>
            </a:xfrm>
            <a:custGeom>
              <a:avLst/>
              <a:gdLst>
                <a:gd name="textAreaLeft" fmla="*/ 0 w 2816640"/>
                <a:gd name="textAreaRight" fmla="*/ 2817000 w 2816640"/>
                <a:gd name="textAreaTop" fmla="*/ 0 h 8419320"/>
                <a:gd name="textAreaBottom" fmla="*/ 8419680 h 8419320"/>
              </a:gdLst>
              <a:ahLst/>
              <a:cxnLst/>
              <a:rect l="textAreaLeft" t="textAreaTop" r="textAreaRight" b="textAreaBottom"/>
              <a:pathLst>
                <a:path w="3755980" h="11226474">
                  <a:moveTo>
                    <a:pt x="0" y="0"/>
                  </a:moveTo>
                  <a:lnTo>
                    <a:pt x="3755980" y="0"/>
                  </a:lnTo>
                  <a:lnTo>
                    <a:pt x="3755980" y="11226474"/>
                  </a:lnTo>
                  <a:lnTo>
                    <a:pt x="0" y="11226474"/>
                  </a:lnTo>
                  <a:close/>
                </a:path>
              </a:pathLst>
            </a:custGeom>
            <a:blipFill rotWithShape="0">
              <a:blip r:embed="rId3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6" name="TextBox 18"/>
            <p:cNvSpPr/>
            <p:nvPr/>
          </p:nvSpPr>
          <p:spPr>
            <a:xfrm>
              <a:off x="849600" y="934920"/>
              <a:ext cx="2816640" cy="83696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defTabSz="914400">
                <a:lnSpc>
                  <a:spcPts val="2880"/>
                </a:lnSpc>
              </a:pPr>
              <a:r>
                <a:rPr b="0" lang="en-US" sz="3000" spc="156" strike="noStrike" u="none">
                  <a:solidFill>
                    <a:srgbClr val="ffffff"/>
                  </a:solidFill>
                  <a:effectLst/>
                  <a:uFillTx/>
                  <a:latin typeface="Big Shoulders Display"/>
                  <a:ea typeface="Big Shoulders Display"/>
                </a:rPr>
                <a:t>JAVA Programming Project Presentation</a:t>
              </a:r>
              <a:endParaRPr b="0" lang="en-IN" sz="30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f4fbfe"/>
            </a:gs>
            <a:gs pos="74000">
              <a:srgbClr val="99daf3"/>
            </a:gs>
            <a:gs pos="83000">
              <a:srgbClr val="99daf3"/>
            </a:gs>
            <a:gs pos="100000">
              <a:srgbClr val="bbe6f7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AutoShape 2"/>
          <p:cNvSpPr/>
          <p:nvPr/>
        </p:nvSpPr>
        <p:spPr>
          <a:xfrm flipV="1">
            <a:off x="1128600" y="1215360"/>
            <a:ext cx="28440" cy="1400400"/>
          </a:xfrm>
          <a:prstGeom prst="line">
            <a:avLst/>
          </a:prstGeom>
          <a:ln cap="rnd" w="19050">
            <a:solidFill>
              <a:srgbClr val="1cade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88" name="Group 3"/>
          <p:cNvGrpSpPr/>
          <p:nvPr/>
        </p:nvGrpSpPr>
        <p:grpSpPr>
          <a:xfrm>
            <a:off x="0" y="0"/>
            <a:ext cx="18287640" cy="10286640"/>
            <a:chOff x="0" y="0"/>
            <a:chExt cx="18287640" cy="10286640"/>
          </a:xfrm>
        </p:grpSpPr>
        <p:sp>
          <p:nvSpPr>
            <p:cNvPr id="189" name="Freeform 4"/>
            <p:cNvSpPr/>
            <p:nvPr/>
          </p:nvSpPr>
          <p:spPr>
            <a:xfrm>
              <a:off x="0" y="0"/>
              <a:ext cx="18287640" cy="10286640"/>
            </a:xfrm>
            <a:custGeom>
              <a:avLst/>
              <a:gdLst>
                <a:gd name="textAreaLeft" fmla="*/ 0 w 18287640"/>
                <a:gd name="textAreaRight" fmla="*/ 18288000 w 18287640"/>
                <a:gd name="textAreaTop" fmla="*/ 0 h 10286640"/>
                <a:gd name="textAreaBottom" fmla="*/ 10287000 h 10286640"/>
              </a:gdLst>
              <a:ahLst/>
              <a:cxnLst/>
              <a:rect l="textAreaLeft" t="textAreaTop" r="textAreaRight" b="textAreaBottom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90" name="Group 5"/>
          <p:cNvGrpSpPr/>
          <p:nvPr/>
        </p:nvGrpSpPr>
        <p:grpSpPr>
          <a:xfrm>
            <a:off x="4159080" y="726840"/>
            <a:ext cx="13421880" cy="8821080"/>
            <a:chOff x="4159080" y="726840"/>
            <a:chExt cx="13421880" cy="8821080"/>
          </a:xfrm>
        </p:grpSpPr>
        <p:sp>
          <p:nvSpPr>
            <p:cNvPr id="191" name="Freeform 6"/>
            <p:cNvSpPr/>
            <p:nvPr/>
          </p:nvSpPr>
          <p:spPr>
            <a:xfrm>
              <a:off x="4159080" y="726840"/>
              <a:ext cx="13421880" cy="8821080"/>
            </a:xfrm>
            <a:custGeom>
              <a:avLst/>
              <a:gdLst>
                <a:gd name="textAreaLeft" fmla="*/ 0 w 13421880"/>
                <a:gd name="textAreaRight" fmla="*/ 13422240 w 13421880"/>
                <a:gd name="textAreaTop" fmla="*/ 0 h 8821080"/>
                <a:gd name="textAreaBottom" fmla="*/ 8821440 h 8821080"/>
              </a:gdLst>
              <a:ahLst/>
              <a:cxnLst/>
              <a:rect l="textAreaLeft" t="textAreaTop" r="textAreaRight" b="textAreaBottom"/>
              <a:pathLst>
                <a:path w="17896332" h="11761851">
                  <a:moveTo>
                    <a:pt x="0" y="0"/>
                  </a:moveTo>
                  <a:lnTo>
                    <a:pt x="17896332" y="0"/>
                  </a:lnTo>
                  <a:lnTo>
                    <a:pt x="17896332" y="11761851"/>
                  </a:lnTo>
                  <a:lnTo>
                    <a:pt x="0" y="11761851"/>
                  </a:lnTo>
                  <a:close/>
                </a:path>
              </a:pathLst>
            </a:custGeom>
            <a:solidFill>
              <a:srgbClr val="40404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IN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92" name="Group 7"/>
          <p:cNvGrpSpPr/>
          <p:nvPr/>
        </p:nvGrpSpPr>
        <p:grpSpPr>
          <a:xfrm>
            <a:off x="5204160" y="1182600"/>
            <a:ext cx="11884680" cy="2249280"/>
            <a:chOff x="5204160" y="1182600"/>
            <a:chExt cx="11884680" cy="2249280"/>
          </a:xfrm>
        </p:grpSpPr>
        <p:sp>
          <p:nvSpPr>
            <p:cNvPr id="193" name="Freeform 8"/>
            <p:cNvSpPr/>
            <p:nvPr/>
          </p:nvSpPr>
          <p:spPr>
            <a:xfrm>
              <a:off x="5204160" y="1182600"/>
              <a:ext cx="11884680" cy="2248920"/>
            </a:xfrm>
            <a:custGeom>
              <a:avLst/>
              <a:gdLst>
                <a:gd name="textAreaLeft" fmla="*/ 0 w 11884680"/>
                <a:gd name="textAreaRight" fmla="*/ 11885040 w 11884680"/>
                <a:gd name="textAreaTop" fmla="*/ 0 h 2248920"/>
                <a:gd name="textAreaBottom" fmla="*/ 2249280 h 2248920"/>
              </a:gdLst>
              <a:ahLst/>
              <a:cxnLst/>
              <a:rect l="textAreaLeft" t="textAreaTop" r="textAreaRight" b="textAreaBottom"/>
              <a:pathLst>
                <a:path w="15846529" h="2999232">
                  <a:moveTo>
                    <a:pt x="0" y="0"/>
                  </a:moveTo>
                  <a:lnTo>
                    <a:pt x="15846529" y="0"/>
                  </a:lnTo>
                  <a:lnTo>
                    <a:pt x="15846529" y="2999232"/>
                  </a:lnTo>
                  <a:lnTo>
                    <a:pt x="0" y="2999232"/>
                  </a:lnTo>
                  <a:close/>
                </a:path>
              </a:pathLst>
            </a:custGeom>
            <a:blipFill rotWithShape="0">
              <a:blip r:embed="rId1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4" name="TextBox 9"/>
            <p:cNvSpPr/>
            <p:nvPr/>
          </p:nvSpPr>
          <p:spPr>
            <a:xfrm>
              <a:off x="5204160" y="1297080"/>
              <a:ext cx="11884680" cy="21348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defTabSz="914400">
                <a:lnSpc>
                  <a:spcPts val="7200"/>
                </a:lnSpc>
              </a:pPr>
              <a:r>
                <a:rPr b="0" lang="en-US" sz="7500" spc="164" strike="noStrike" u="none">
                  <a:solidFill>
                    <a:srgbClr val="ffffff"/>
                  </a:solidFill>
                  <a:effectLst/>
                  <a:uFillTx/>
                  <a:latin typeface="Big Shoulders Display"/>
                  <a:ea typeface="Big Shoulders Display"/>
                </a:rPr>
                <a:t>Implementation</a:t>
              </a:r>
              <a:endParaRPr b="0" lang="en-IN" sz="75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95" name="Group 10"/>
          <p:cNvGrpSpPr/>
          <p:nvPr/>
        </p:nvGrpSpPr>
        <p:grpSpPr>
          <a:xfrm>
            <a:off x="712800" y="726840"/>
            <a:ext cx="3193200" cy="8821080"/>
            <a:chOff x="712800" y="726840"/>
            <a:chExt cx="3193200" cy="8821080"/>
          </a:xfrm>
        </p:grpSpPr>
        <p:sp>
          <p:nvSpPr>
            <p:cNvPr id="196" name="Freeform 11"/>
            <p:cNvSpPr/>
            <p:nvPr/>
          </p:nvSpPr>
          <p:spPr>
            <a:xfrm>
              <a:off x="712800" y="726840"/>
              <a:ext cx="3193200" cy="8821080"/>
            </a:xfrm>
            <a:custGeom>
              <a:avLst/>
              <a:gdLst>
                <a:gd name="textAreaLeft" fmla="*/ 0 w 3193200"/>
                <a:gd name="textAreaRight" fmla="*/ 3193560 w 3193200"/>
                <a:gd name="textAreaTop" fmla="*/ 0 h 8821080"/>
                <a:gd name="textAreaBottom" fmla="*/ 8821440 h 8821080"/>
              </a:gdLst>
              <a:ahLst/>
              <a:cxnLst/>
              <a:rect l="textAreaLeft" t="textAreaTop" r="textAreaRight" b="textAreaBottom"/>
              <a:pathLst>
                <a:path w="4257929" h="11761851">
                  <a:moveTo>
                    <a:pt x="0" y="0"/>
                  </a:moveTo>
                  <a:lnTo>
                    <a:pt x="4257929" y="0"/>
                  </a:lnTo>
                  <a:lnTo>
                    <a:pt x="4257929" y="11761851"/>
                  </a:lnTo>
                  <a:lnTo>
                    <a:pt x="0" y="11761851"/>
                  </a:lnTo>
                  <a:close/>
                </a:path>
              </a:pathLst>
            </a:custGeom>
            <a:solidFill>
              <a:srgbClr val="1cade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97" name="AutoShape 12"/>
          <p:cNvSpPr/>
          <p:nvPr/>
        </p:nvSpPr>
        <p:spPr>
          <a:xfrm flipV="1">
            <a:off x="4796280" y="1520280"/>
            <a:ext cx="28800" cy="1400040"/>
          </a:xfrm>
          <a:prstGeom prst="line">
            <a:avLst/>
          </a:prstGeom>
          <a:ln cap="rnd" w="19050">
            <a:solidFill>
              <a:srgbClr val="1cade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8" name="TextBox 13"/>
          <p:cNvSpPr/>
          <p:nvPr/>
        </p:nvSpPr>
        <p:spPr>
          <a:xfrm>
            <a:off x="5249880" y="3789000"/>
            <a:ext cx="11793240" cy="4374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2917"/>
              </a:lnSpc>
            </a:pP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488520" indent="-244440" defTabSz="914400">
              <a:lnSpc>
                <a:spcPts val="2917"/>
              </a:lnSpc>
              <a:buClr>
                <a:srgbClr val="ffffff"/>
              </a:buClr>
              <a:buFont typeface="Arial"/>
              <a:buChar char="•"/>
            </a:pPr>
            <a:r>
              <a:rPr b="0" lang="en-US" sz="27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Techniques used:</a:t>
            </a:r>
            <a:endParaRPr b="0" lang="en-IN" sz="2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488520" indent="-244440" defTabSz="914400">
              <a:lnSpc>
                <a:spcPts val="2917"/>
              </a:lnSpc>
              <a:buClr>
                <a:srgbClr val="ffffff"/>
              </a:buClr>
              <a:buFont typeface="Arial"/>
              <a:buChar char="•"/>
            </a:pPr>
            <a:r>
              <a:rPr b="0" lang="en-US" sz="27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Java Swing (GUI)</a:t>
            </a:r>
            <a:endParaRPr b="0" lang="en-IN" sz="2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488520" indent="-244440" defTabSz="914400">
              <a:lnSpc>
                <a:spcPts val="2917"/>
              </a:lnSpc>
              <a:buClr>
                <a:srgbClr val="ffffff"/>
              </a:buClr>
              <a:buFont typeface="Arial"/>
              <a:buChar char="•"/>
            </a:pPr>
            <a:r>
              <a:rPr b="0" lang="en-US" sz="27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HashMap (store product data)</a:t>
            </a:r>
            <a:endParaRPr b="0" lang="en-IN" sz="2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488520" indent="-244440" defTabSz="914400">
              <a:lnSpc>
                <a:spcPts val="2917"/>
              </a:lnSpc>
              <a:buClr>
                <a:srgbClr val="ffffff"/>
              </a:buClr>
              <a:buFont typeface="Arial"/>
              <a:buChar char="•"/>
            </a:pPr>
            <a:r>
              <a:rPr b="0" lang="en-US" sz="27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Event Handling (button clicks)</a:t>
            </a:r>
            <a:endParaRPr b="0" lang="en-IN" sz="2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488520" indent="-244440" defTabSz="914400">
              <a:lnSpc>
                <a:spcPts val="2917"/>
              </a:lnSpc>
              <a:buClr>
                <a:srgbClr val="ffffff"/>
              </a:buClr>
              <a:buFont typeface="Arial"/>
              <a:buChar char="•"/>
            </a:pPr>
            <a:r>
              <a:rPr b="0" lang="en-US" sz="27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Table Model (display items)</a:t>
            </a:r>
            <a:endParaRPr b="0" lang="en-IN" sz="2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488520" indent="-244440" defTabSz="914400">
              <a:lnSpc>
                <a:spcPts val="2917"/>
              </a:lnSpc>
              <a:buClr>
                <a:srgbClr val="ffffff"/>
              </a:buClr>
              <a:buFont typeface="Arial"/>
              <a:buChar char="•"/>
            </a:pPr>
            <a:r>
              <a:rPr b="0" lang="en-US" sz="27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JOptionPane (input/output)</a:t>
            </a:r>
            <a:endParaRPr b="0" lang="en-IN" sz="2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488520" indent="-244440" defTabSz="914400">
              <a:lnSpc>
                <a:spcPts val="2917"/>
              </a:lnSpc>
              <a:buClr>
                <a:srgbClr val="ffffff"/>
              </a:buClr>
              <a:buFont typeface="Arial"/>
              <a:buChar char="•"/>
            </a:pPr>
            <a:r>
              <a:rPr b="0" lang="en-US" sz="27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Sample products:</a:t>
            </a:r>
            <a:endParaRPr b="0" lang="en-IN" sz="2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488520" indent="-244440" defTabSz="914400">
              <a:lnSpc>
                <a:spcPts val="2917"/>
              </a:lnSpc>
              <a:buClr>
                <a:srgbClr val="ffffff"/>
              </a:buClr>
              <a:buFont typeface="Arial"/>
              <a:buChar char="•"/>
            </a:pPr>
            <a:r>
              <a:rPr b="0" lang="en-US" sz="27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1001 → Rice → 50</a:t>
            </a:r>
            <a:endParaRPr b="0" lang="en-IN" sz="2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488520" indent="-244440" defTabSz="914400">
              <a:lnSpc>
                <a:spcPts val="2917"/>
              </a:lnSpc>
              <a:buClr>
                <a:srgbClr val="ffffff"/>
              </a:buClr>
              <a:buFont typeface="Arial"/>
              <a:buChar char="•"/>
            </a:pPr>
            <a:r>
              <a:rPr b="0" lang="en-US" sz="27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1002 → Milk → 30</a:t>
            </a:r>
            <a:endParaRPr b="0" lang="en-IN" sz="2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488520" indent="-244440" defTabSz="914400">
              <a:lnSpc>
                <a:spcPts val="2917"/>
              </a:lnSpc>
              <a:buClr>
                <a:srgbClr val="ffffff"/>
              </a:buClr>
              <a:buFont typeface="Arial"/>
              <a:buChar char="•"/>
            </a:pPr>
            <a:r>
              <a:rPr b="0" lang="en-US" sz="27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1003 → Oil → 120</a:t>
            </a:r>
            <a:endParaRPr b="0" lang="en-IN" sz="2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917"/>
              </a:lnSpc>
            </a:pP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99" name="Group 14"/>
          <p:cNvGrpSpPr/>
          <p:nvPr/>
        </p:nvGrpSpPr>
        <p:grpSpPr>
          <a:xfrm>
            <a:off x="849600" y="982080"/>
            <a:ext cx="2816640" cy="703800"/>
            <a:chOff x="849600" y="982080"/>
            <a:chExt cx="2816640" cy="703800"/>
          </a:xfrm>
        </p:grpSpPr>
        <p:sp>
          <p:nvSpPr>
            <p:cNvPr id="200" name="Freeform 15" descr="A blue and red logo  AI-generated content may be incorrect."/>
            <p:cNvSpPr/>
            <p:nvPr/>
          </p:nvSpPr>
          <p:spPr>
            <a:xfrm>
              <a:off x="849600" y="982080"/>
              <a:ext cx="2816640" cy="703800"/>
            </a:xfrm>
            <a:custGeom>
              <a:avLst/>
              <a:gdLst>
                <a:gd name="textAreaLeft" fmla="*/ 0 w 2816640"/>
                <a:gd name="textAreaRight" fmla="*/ 2817000 w 2816640"/>
                <a:gd name="textAreaTop" fmla="*/ 0 h 703800"/>
                <a:gd name="textAreaBottom" fmla="*/ 704160 h 703800"/>
              </a:gdLst>
              <a:ahLst/>
              <a:cxnLst/>
              <a:rect l="textAreaLeft" t="textAreaTop" r="textAreaRight" b="textAreaBottom"/>
              <a:pathLst>
                <a:path w="3756025" h="939038">
                  <a:moveTo>
                    <a:pt x="0" y="0"/>
                  </a:moveTo>
                  <a:lnTo>
                    <a:pt x="3756025" y="0"/>
                  </a:lnTo>
                  <a:lnTo>
                    <a:pt x="3756025" y="939038"/>
                  </a:lnTo>
                  <a:lnTo>
                    <a:pt x="0" y="939038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2"/>
              <a:srcRect/>
              <a:stretch>
                <a:fillRect r="-33333" b="-33350"/>
              </a:stretch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201" name="Group 16"/>
          <p:cNvGrpSpPr/>
          <p:nvPr/>
        </p:nvGrpSpPr>
        <p:grpSpPr>
          <a:xfrm>
            <a:off x="849600" y="884880"/>
            <a:ext cx="2816640" cy="8419680"/>
            <a:chOff x="849600" y="884880"/>
            <a:chExt cx="2816640" cy="8419680"/>
          </a:xfrm>
        </p:grpSpPr>
        <p:sp>
          <p:nvSpPr>
            <p:cNvPr id="202" name="Freeform 17"/>
            <p:cNvSpPr/>
            <p:nvPr/>
          </p:nvSpPr>
          <p:spPr>
            <a:xfrm>
              <a:off x="849600" y="884880"/>
              <a:ext cx="2816640" cy="8419320"/>
            </a:xfrm>
            <a:custGeom>
              <a:avLst/>
              <a:gdLst>
                <a:gd name="textAreaLeft" fmla="*/ 0 w 2816640"/>
                <a:gd name="textAreaRight" fmla="*/ 2817000 w 2816640"/>
                <a:gd name="textAreaTop" fmla="*/ 0 h 8419320"/>
                <a:gd name="textAreaBottom" fmla="*/ 8419680 h 8419320"/>
              </a:gdLst>
              <a:ahLst/>
              <a:cxnLst/>
              <a:rect l="textAreaLeft" t="textAreaTop" r="textAreaRight" b="textAreaBottom"/>
              <a:pathLst>
                <a:path w="3755980" h="11226474">
                  <a:moveTo>
                    <a:pt x="0" y="0"/>
                  </a:moveTo>
                  <a:lnTo>
                    <a:pt x="3755980" y="0"/>
                  </a:lnTo>
                  <a:lnTo>
                    <a:pt x="3755980" y="11226474"/>
                  </a:lnTo>
                  <a:lnTo>
                    <a:pt x="0" y="11226474"/>
                  </a:lnTo>
                  <a:close/>
                </a:path>
              </a:pathLst>
            </a:custGeom>
            <a:blipFill rotWithShape="0">
              <a:blip r:embed="rId3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3" name="TextBox 18"/>
            <p:cNvSpPr/>
            <p:nvPr/>
          </p:nvSpPr>
          <p:spPr>
            <a:xfrm>
              <a:off x="849600" y="934920"/>
              <a:ext cx="2816640" cy="83696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defTabSz="914400">
                <a:lnSpc>
                  <a:spcPts val="2880"/>
                </a:lnSpc>
              </a:pPr>
              <a:r>
                <a:rPr b="0" lang="en-US" sz="3000" spc="156" strike="noStrike" u="none">
                  <a:solidFill>
                    <a:srgbClr val="ffffff"/>
                  </a:solidFill>
                  <a:effectLst/>
                  <a:uFillTx/>
                  <a:latin typeface="Big Shoulders Display"/>
                  <a:ea typeface="Big Shoulders Display"/>
                </a:rPr>
                <a:t>JAVA Programming Project Presentation</a:t>
              </a:r>
              <a:endParaRPr b="0" lang="en-IN" sz="30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f4fbfe"/>
            </a:gs>
            <a:gs pos="74000">
              <a:srgbClr val="99daf3"/>
            </a:gs>
            <a:gs pos="83000">
              <a:srgbClr val="99daf3"/>
            </a:gs>
            <a:gs pos="100000">
              <a:srgbClr val="bbe6f7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AutoShape 2"/>
          <p:cNvSpPr/>
          <p:nvPr/>
        </p:nvSpPr>
        <p:spPr>
          <a:xfrm flipV="1">
            <a:off x="1128600" y="1215360"/>
            <a:ext cx="28440" cy="1400400"/>
          </a:xfrm>
          <a:prstGeom prst="line">
            <a:avLst/>
          </a:prstGeom>
          <a:ln cap="rnd" w="19050">
            <a:solidFill>
              <a:srgbClr val="1cade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205" name="Group 3"/>
          <p:cNvGrpSpPr/>
          <p:nvPr/>
        </p:nvGrpSpPr>
        <p:grpSpPr>
          <a:xfrm>
            <a:off x="407160" y="-324720"/>
            <a:ext cx="18287640" cy="10286640"/>
            <a:chOff x="407160" y="-324720"/>
            <a:chExt cx="18287640" cy="10286640"/>
          </a:xfrm>
        </p:grpSpPr>
        <p:sp>
          <p:nvSpPr>
            <p:cNvPr id="206" name="Freeform 4"/>
            <p:cNvSpPr/>
            <p:nvPr/>
          </p:nvSpPr>
          <p:spPr>
            <a:xfrm>
              <a:off x="407160" y="-324720"/>
              <a:ext cx="18287640" cy="10286640"/>
            </a:xfrm>
            <a:custGeom>
              <a:avLst/>
              <a:gdLst>
                <a:gd name="textAreaLeft" fmla="*/ 0 w 18287640"/>
                <a:gd name="textAreaRight" fmla="*/ 18288000 w 18287640"/>
                <a:gd name="textAreaTop" fmla="*/ 0 h 10286640"/>
                <a:gd name="textAreaBottom" fmla="*/ 10287000 h 10286640"/>
              </a:gdLst>
              <a:ahLst/>
              <a:cxnLst/>
              <a:rect l="textAreaLeft" t="textAreaTop" r="textAreaRight" b="textAreaBottom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207" name="Group 5"/>
          <p:cNvGrpSpPr/>
          <p:nvPr/>
        </p:nvGrpSpPr>
        <p:grpSpPr>
          <a:xfrm>
            <a:off x="4106520" y="5456160"/>
            <a:ext cx="13699800" cy="4091760"/>
            <a:chOff x="4106520" y="5456160"/>
            <a:chExt cx="13699800" cy="4091760"/>
          </a:xfrm>
        </p:grpSpPr>
        <p:sp>
          <p:nvSpPr>
            <p:cNvPr id="208" name="Freeform 6"/>
            <p:cNvSpPr/>
            <p:nvPr/>
          </p:nvSpPr>
          <p:spPr>
            <a:xfrm>
              <a:off x="4106520" y="5456160"/>
              <a:ext cx="13699800" cy="4091760"/>
            </a:xfrm>
            <a:custGeom>
              <a:avLst/>
              <a:gdLst>
                <a:gd name="textAreaLeft" fmla="*/ 0 w 13699800"/>
                <a:gd name="textAreaRight" fmla="*/ 13700160 w 13699800"/>
                <a:gd name="textAreaTop" fmla="*/ 0 h 4091760"/>
                <a:gd name="textAreaBottom" fmla="*/ 4092120 h 4091760"/>
              </a:gdLst>
              <a:ahLst/>
              <a:cxnLst/>
              <a:rect l="textAreaLeft" t="textAreaTop" r="textAreaRight" b="textAreaBottom"/>
              <a:pathLst>
                <a:path w="39379060" h="11761851">
                  <a:moveTo>
                    <a:pt x="0" y="0"/>
                  </a:moveTo>
                  <a:lnTo>
                    <a:pt x="39379060" y="0"/>
                  </a:lnTo>
                  <a:lnTo>
                    <a:pt x="39379060" y="11761851"/>
                  </a:lnTo>
                  <a:lnTo>
                    <a:pt x="0" y="11761851"/>
                  </a:lnTo>
                  <a:close/>
                </a:path>
              </a:pathLst>
            </a:custGeom>
            <a:blipFill rotWithShape="0">
              <a:blip r:embed="rId1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209" name="Group 7"/>
          <p:cNvGrpSpPr/>
          <p:nvPr/>
        </p:nvGrpSpPr>
        <p:grpSpPr>
          <a:xfrm>
            <a:off x="5420160" y="1225080"/>
            <a:ext cx="11838960" cy="2249280"/>
            <a:chOff x="5420160" y="1225080"/>
            <a:chExt cx="11838960" cy="2249280"/>
          </a:xfrm>
        </p:grpSpPr>
        <p:sp>
          <p:nvSpPr>
            <p:cNvPr id="210" name="Freeform 8"/>
            <p:cNvSpPr/>
            <p:nvPr/>
          </p:nvSpPr>
          <p:spPr>
            <a:xfrm>
              <a:off x="5420160" y="1225080"/>
              <a:ext cx="11838960" cy="2248920"/>
            </a:xfrm>
            <a:custGeom>
              <a:avLst/>
              <a:gdLst>
                <a:gd name="textAreaLeft" fmla="*/ 0 w 11838960"/>
                <a:gd name="textAreaRight" fmla="*/ 11839320 w 11838960"/>
                <a:gd name="textAreaTop" fmla="*/ 0 h 2248920"/>
                <a:gd name="textAreaBottom" fmla="*/ 2249280 h 2248920"/>
              </a:gdLst>
              <a:ahLst/>
              <a:cxnLst/>
              <a:rect l="textAreaLeft" t="textAreaTop" r="textAreaRight" b="textAreaBottom"/>
              <a:pathLst>
                <a:path w="15785568" h="2999232">
                  <a:moveTo>
                    <a:pt x="0" y="0"/>
                  </a:moveTo>
                  <a:lnTo>
                    <a:pt x="15785568" y="0"/>
                  </a:lnTo>
                  <a:lnTo>
                    <a:pt x="15785568" y="2999232"/>
                  </a:lnTo>
                  <a:lnTo>
                    <a:pt x="0" y="2999232"/>
                  </a:lnTo>
                  <a:close/>
                </a:path>
              </a:pathLst>
            </a:custGeom>
            <a:blipFill rotWithShape="0">
              <a:blip r:embed="rId2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1" name="TextBox 9"/>
            <p:cNvSpPr/>
            <p:nvPr/>
          </p:nvSpPr>
          <p:spPr>
            <a:xfrm>
              <a:off x="5420160" y="1339560"/>
              <a:ext cx="11838960" cy="21348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defTabSz="914400">
                <a:lnSpc>
                  <a:spcPts val="7200"/>
                </a:lnSpc>
              </a:pPr>
              <a:r>
                <a:rPr b="1" lang="en-US" sz="7500" spc="164" strike="noStrike" u="none">
                  <a:solidFill>
                    <a:srgbClr val="000000"/>
                  </a:solidFill>
                  <a:effectLst/>
                  <a:uFillTx/>
                  <a:latin typeface="Big Shoulders Display Bold"/>
                  <a:ea typeface="Big Shoulders Display Bold"/>
                </a:rPr>
                <a:t>Output Screens</a:t>
              </a:r>
              <a:endParaRPr b="0" lang="en-IN" sz="75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212" name="Group 10"/>
          <p:cNvGrpSpPr/>
          <p:nvPr/>
        </p:nvGrpSpPr>
        <p:grpSpPr>
          <a:xfrm>
            <a:off x="712800" y="726840"/>
            <a:ext cx="3193200" cy="8821080"/>
            <a:chOff x="712800" y="726840"/>
            <a:chExt cx="3193200" cy="8821080"/>
          </a:xfrm>
        </p:grpSpPr>
        <p:sp>
          <p:nvSpPr>
            <p:cNvPr id="213" name="Freeform 11"/>
            <p:cNvSpPr/>
            <p:nvPr/>
          </p:nvSpPr>
          <p:spPr>
            <a:xfrm>
              <a:off x="712800" y="726840"/>
              <a:ext cx="3193200" cy="8821080"/>
            </a:xfrm>
            <a:custGeom>
              <a:avLst/>
              <a:gdLst>
                <a:gd name="textAreaLeft" fmla="*/ 0 w 3193200"/>
                <a:gd name="textAreaRight" fmla="*/ 3193560 w 3193200"/>
                <a:gd name="textAreaTop" fmla="*/ 0 h 8821080"/>
                <a:gd name="textAreaBottom" fmla="*/ 8821440 h 8821080"/>
              </a:gdLst>
              <a:ahLst/>
              <a:cxnLst/>
              <a:rect l="textAreaLeft" t="textAreaTop" r="textAreaRight" b="textAreaBottom"/>
              <a:pathLst>
                <a:path w="4257929" h="11761851">
                  <a:moveTo>
                    <a:pt x="0" y="0"/>
                  </a:moveTo>
                  <a:lnTo>
                    <a:pt x="4257929" y="0"/>
                  </a:lnTo>
                  <a:lnTo>
                    <a:pt x="4257929" y="11761851"/>
                  </a:lnTo>
                  <a:lnTo>
                    <a:pt x="0" y="11761851"/>
                  </a:lnTo>
                  <a:close/>
                </a:path>
              </a:pathLst>
            </a:custGeom>
            <a:solidFill>
              <a:srgbClr val="1cade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214" name="AutoShape 12"/>
          <p:cNvSpPr/>
          <p:nvPr/>
        </p:nvSpPr>
        <p:spPr>
          <a:xfrm flipV="1">
            <a:off x="5096880" y="1686600"/>
            <a:ext cx="28440" cy="1400040"/>
          </a:xfrm>
          <a:prstGeom prst="line">
            <a:avLst/>
          </a:prstGeom>
          <a:ln cap="rnd" w="19050">
            <a:solidFill>
              <a:srgbClr val="1cade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215" name="Group 13"/>
          <p:cNvGrpSpPr/>
          <p:nvPr/>
        </p:nvGrpSpPr>
        <p:grpSpPr>
          <a:xfrm>
            <a:off x="849600" y="982080"/>
            <a:ext cx="2816640" cy="703800"/>
            <a:chOff x="849600" y="982080"/>
            <a:chExt cx="2816640" cy="703800"/>
          </a:xfrm>
        </p:grpSpPr>
        <p:sp>
          <p:nvSpPr>
            <p:cNvPr id="216" name="Freeform 14" descr="A blue and red logo  AI-generated content may be incorrect."/>
            <p:cNvSpPr/>
            <p:nvPr/>
          </p:nvSpPr>
          <p:spPr>
            <a:xfrm>
              <a:off x="849600" y="982080"/>
              <a:ext cx="2816640" cy="703800"/>
            </a:xfrm>
            <a:custGeom>
              <a:avLst/>
              <a:gdLst>
                <a:gd name="textAreaLeft" fmla="*/ 0 w 2816640"/>
                <a:gd name="textAreaRight" fmla="*/ 2817000 w 2816640"/>
                <a:gd name="textAreaTop" fmla="*/ 0 h 703800"/>
                <a:gd name="textAreaBottom" fmla="*/ 704160 h 703800"/>
              </a:gdLst>
              <a:ahLst/>
              <a:cxnLst/>
              <a:rect l="textAreaLeft" t="textAreaTop" r="textAreaRight" b="textAreaBottom"/>
              <a:pathLst>
                <a:path w="3756025" h="939038">
                  <a:moveTo>
                    <a:pt x="0" y="0"/>
                  </a:moveTo>
                  <a:lnTo>
                    <a:pt x="3756025" y="0"/>
                  </a:lnTo>
                  <a:lnTo>
                    <a:pt x="3756025" y="939038"/>
                  </a:lnTo>
                  <a:lnTo>
                    <a:pt x="0" y="939038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3"/>
              <a:srcRect/>
              <a:stretch>
                <a:fillRect r="-33333" b="-33350"/>
              </a:stretch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217" name="Group 15"/>
          <p:cNvGrpSpPr/>
          <p:nvPr/>
        </p:nvGrpSpPr>
        <p:grpSpPr>
          <a:xfrm>
            <a:off x="849600" y="884880"/>
            <a:ext cx="2816640" cy="8419680"/>
            <a:chOff x="849600" y="884880"/>
            <a:chExt cx="2816640" cy="8419680"/>
          </a:xfrm>
        </p:grpSpPr>
        <p:sp>
          <p:nvSpPr>
            <p:cNvPr id="218" name="Freeform 16"/>
            <p:cNvSpPr/>
            <p:nvPr/>
          </p:nvSpPr>
          <p:spPr>
            <a:xfrm>
              <a:off x="849600" y="884880"/>
              <a:ext cx="2816640" cy="8419320"/>
            </a:xfrm>
            <a:custGeom>
              <a:avLst/>
              <a:gdLst>
                <a:gd name="textAreaLeft" fmla="*/ 0 w 2816640"/>
                <a:gd name="textAreaRight" fmla="*/ 2817000 w 2816640"/>
                <a:gd name="textAreaTop" fmla="*/ 0 h 8419320"/>
                <a:gd name="textAreaBottom" fmla="*/ 8419680 h 8419320"/>
              </a:gdLst>
              <a:ahLst/>
              <a:cxnLst/>
              <a:rect l="textAreaLeft" t="textAreaTop" r="textAreaRight" b="textAreaBottom"/>
              <a:pathLst>
                <a:path w="3755980" h="11226474">
                  <a:moveTo>
                    <a:pt x="0" y="0"/>
                  </a:moveTo>
                  <a:lnTo>
                    <a:pt x="3755980" y="0"/>
                  </a:lnTo>
                  <a:lnTo>
                    <a:pt x="3755980" y="11226474"/>
                  </a:lnTo>
                  <a:lnTo>
                    <a:pt x="0" y="11226474"/>
                  </a:lnTo>
                  <a:close/>
                </a:path>
              </a:pathLst>
            </a:custGeom>
            <a:blipFill rotWithShape="0">
              <a:blip r:embed="rId4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9" name="TextBox 17"/>
            <p:cNvSpPr/>
            <p:nvPr/>
          </p:nvSpPr>
          <p:spPr>
            <a:xfrm>
              <a:off x="849600" y="934920"/>
              <a:ext cx="2816640" cy="83696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defTabSz="914400">
                <a:lnSpc>
                  <a:spcPts val="2880"/>
                </a:lnSpc>
              </a:pPr>
              <a:r>
                <a:rPr b="0" lang="en-US" sz="3000" spc="156" strike="noStrike" u="none">
                  <a:solidFill>
                    <a:srgbClr val="ffffff"/>
                  </a:solidFill>
                  <a:effectLst/>
                  <a:uFillTx/>
                  <a:latin typeface="Big Shoulders Display"/>
                  <a:ea typeface="Big Shoulders Display"/>
                </a:rPr>
                <a:t>JAVA Programming Project Presentation</a:t>
              </a:r>
              <a:endParaRPr b="0" lang="en-IN" sz="30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220" name="TextBox 18"/>
          <p:cNvSpPr/>
          <p:nvPr/>
        </p:nvSpPr>
        <p:spPr>
          <a:xfrm>
            <a:off x="3142800" y="3344760"/>
            <a:ext cx="5609520" cy="174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3475"/>
              </a:lnSpc>
            </a:pPr>
            <a:r>
              <a:rPr b="0" lang="en-US" sz="2480" spc="128" strike="noStrike" u="none">
                <a:solidFill>
                  <a:srgbClr val="000000"/>
                </a:solidFill>
                <a:effectLst/>
                <a:uFillTx/>
                <a:latin typeface="Big Shoulders Display"/>
                <a:ea typeface="Big Shoulders Display"/>
              </a:rPr>
              <a:t>Include:</a:t>
            </a:r>
            <a:endParaRPr b="0" lang="en-IN" sz="24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ts val="3475"/>
              </a:lnSpc>
            </a:pPr>
            <a:r>
              <a:rPr b="0" lang="en-US" sz="2480" spc="128" strike="noStrike" u="none">
                <a:solidFill>
                  <a:srgbClr val="000000"/>
                </a:solidFill>
                <a:effectLst/>
                <a:uFillTx/>
                <a:latin typeface="Big Shoulders Display"/>
                <a:ea typeface="Big Shoulders Display"/>
              </a:rPr>
              <a:t>                            Barcode scan screen</a:t>
            </a:r>
            <a:endParaRPr b="0" lang="en-IN" sz="24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ts val="3475"/>
              </a:lnSpc>
            </a:pPr>
            <a:r>
              <a:rPr b="0" lang="en-US" sz="2480" spc="128" strike="noStrike" u="none">
                <a:solidFill>
                  <a:srgbClr val="000000"/>
                </a:solidFill>
                <a:effectLst/>
                <a:uFillTx/>
                <a:latin typeface="Big Shoulders Display"/>
                <a:ea typeface="Big Shoulders Display"/>
              </a:rPr>
              <a:t>                       Table with items</a:t>
            </a:r>
            <a:endParaRPr b="0" lang="en-IN" sz="24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ts val="3475"/>
              </a:lnSpc>
            </a:pPr>
            <a:r>
              <a:rPr b="0" lang="en-US" sz="2480" spc="128" strike="noStrike" u="none">
                <a:solidFill>
                  <a:srgbClr val="000000"/>
                </a:solidFill>
                <a:effectLst/>
                <a:uFillTx/>
                <a:latin typeface="Big Shoulders Display"/>
                <a:ea typeface="Big Shoulders Display"/>
              </a:rPr>
              <a:t>                                 Discount applied screen</a:t>
            </a:r>
            <a:endParaRPr b="0" lang="en-IN" sz="24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f4fbfe"/>
            </a:gs>
            <a:gs pos="74000">
              <a:srgbClr val="99daf3"/>
            </a:gs>
            <a:gs pos="83000">
              <a:srgbClr val="99daf3"/>
            </a:gs>
            <a:gs pos="100000">
              <a:srgbClr val="bbe6f7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AutoShape 2"/>
          <p:cNvSpPr/>
          <p:nvPr/>
        </p:nvSpPr>
        <p:spPr>
          <a:xfrm flipV="1">
            <a:off x="1128600" y="1215360"/>
            <a:ext cx="28440" cy="1400400"/>
          </a:xfrm>
          <a:prstGeom prst="line">
            <a:avLst/>
          </a:prstGeom>
          <a:ln cap="rnd" w="19050">
            <a:solidFill>
              <a:srgbClr val="1cade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222" name="Group 3"/>
          <p:cNvGrpSpPr/>
          <p:nvPr/>
        </p:nvGrpSpPr>
        <p:grpSpPr>
          <a:xfrm>
            <a:off x="0" y="0"/>
            <a:ext cx="18287640" cy="10286640"/>
            <a:chOff x="0" y="0"/>
            <a:chExt cx="18287640" cy="10286640"/>
          </a:xfrm>
        </p:grpSpPr>
        <p:sp>
          <p:nvSpPr>
            <p:cNvPr id="223" name="Freeform 4"/>
            <p:cNvSpPr/>
            <p:nvPr/>
          </p:nvSpPr>
          <p:spPr>
            <a:xfrm>
              <a:off x="0" y="0"/>
              <a:ext cx="18287640" cy="10286640"/>
            </a:xfrm>
            <a:custGeom>
              <a:avLst/>
              <a:gdLst>
                <a:gd name="textAreaLeft" fmla="*/ 0 w 18287640"/>
                <a:gd name="textAreaRight" fmla="*/ 18288000 w 18287640"/>
                <a:gd name="textAreaTop" fmla="*/ 0 h 10286640"/>
                <a:gd name="textAreaBottom" fmla="*/ 10287000 h 10286640"/>
              </a:gdLst>
              <a:ahLst/>
              <a:cxnLst/>
              <a:rect l="textAreaLeft" t="textAreaTop" r="textAreaRight" b="textAreaBottom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224" name="Group 5"/>
          <p:cNvGrpSpPr/>
          <p:nvPr/>
        </p:nvGrpSpPr>
        <p:grpSpPr>
          <a:xfrm>
            <a:off x="4049280" y="684000"/>
            <a:ext cx="13421880" cy="8821080"/>
            <a:chOff x="4049280" y="684000"/>
            <a:chExt cx="13421880" cy="8821080"/>
          </a:xfrm>
        </p:grpSpPr>
        <p:sp>
          <p:nvSpPr>
            <p:cNvPr id="225" name="Freeform 6"/>
            <p:cNvSpPr/>
            <p:nvPr/>
          </p:nvSpPr>
          <p:spPr>
            <a:xfrm>
              <a:off x="4049280" y="684000"/>
              <a:ext cx="13421880" cy="8821080"/>
            </a:xfrm>
            <a:custGeom>
              <a:avLst/>
              <a:gdLst>
                <a:gd name="textAreaLeft" fmla="*/ 0 w 13421880"/>
                <a:gd name="textAreaRight" fmla="*/ 13422240 w 13421880"/>
                <a:gd name="textAreaTop" fmla="*/ 0 h 8821080"/>
                <a:gd name="textAreaBottom" fmla="*/ 8821440 h 8821080"/>
              </a:gdLst>
              <a:ahLst/>
              <a:cxnLst/>
              <a:rect l="textAreaLeft" t="textAreaTop" r="textAreaRight" b="textAreaBottom"/>
              <a:pathLst>
                <a:path w="17896332" h="11761851">
                  <a:moveTo>
                    <a:pt x="0" y="0"/>
                  </a:moveTo>
                  <a:lnTo>
                    <a:pt x="17896332" y="0"/>
                  </a:lnTo>
                  <a:lnTo>
                    <a:pt x="17896332" y="11761851"/>
                  </a:lnTo>
                  <a:lnTo>
                    <a:pt x="0" y="11761851"/>
                  </a:lnTo>
                  <a:close/>
                </a:path>
              </a:pathLst>
            </a:custGeom>
            <a:solidFill>
              <a:srgbClr val="40404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IN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226" name="Group 7"/>
          <p:cNvGrpSpPr/>
          <p:nvPr/>
        </p:nvGrpSpPr>
        <p:grpSpPr>
          <a:xfrm>
            <a:off x="5204160" y="1182600"/>
            <a:ext cx="11884680" cy="2249280"/>
            <a:chOff x="5204160" y="1182600"/>
            <a:chExt cx="11884680" cy="2249280"/>
          </a:xfrm>
        </p:grpSpPr>
        <p:sp>
          <p:nvSpPr>
            <p:cNvPr id="227" name="Freeform 8"/>
            <p:cNvSpPr/>
            <p:nvPr/>
          </p:nvSpPr>
          <p:spPr>
            <a:xfrm>
              <a:off x="5204160" y="1182600"/>
              <a:ext cx="11884680" cy="2248920"/>
            </a:xfrm>
            <a:custGeom>
              <a:avLst/>
              <a:gdLst>
                <a:gd name="textAreaLeft" fmla="*/ 0 w 11884680"/>
                <a:gd name="textAreaRight" fmla="*/ 11885040 w 11884680"/>
                <a:gd name="textAreaTop" fmla="*/ 0 h 2248920"/>
                <a:gd name="textAreaBottom" fmla="*/ 2249280 h 2248920"/>
              </a:gdLst>
              <a:ahLst/>
              <a:cxnLst/>
              <a:rect l="textAreaLeft" t="textAreaTop" r="textAreaRight" b="textAreaBottom"/>
              <a:pathLst>
                <a:path w="15846529" h="2999232">
                  <a:moveTo>
                    <a:pt x="0" y="0"/>
                  </a:moveTo>
                  <a:lnTo>
                    <a:pt x="15846529" y="0"/>
                  </a:lnTo>
                  <a:lnTo>
                    <a:pt x="15846529" y="2999232"/>
                  </a:lnTo>
                  <a:lnTo>
                    <a:pt x="0" y="2999232"/>
                  </a:lnTo>
                  <a:close/>
                </a:path>
              </a:pathLst>
            </a:custGeom>
            <a:blipFill rotWithShape="0">
              <a:blip r:embed="rId1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8" name="TextBox 9"/>
            <p:cNvSpPr/>
            <p:nvPr/>
          </p:nvSpPr>
          <p:spPr>
            <a:xfrm>
              <a:off x="5204160" y="1297080"/>
              <a:ext cx="11884680" cy="21348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defTabSz="914400">
                <a:lnSpc>
                  <a:spcPts val="7200"/>
                </a:lnSpc>
              </a:pPr>
              <a:r>
                <a:rPr b="0" lang="en-US" sz="7500" spc="164" strike="noStrike" u="none">
                  <a:solidFill>
                    <a:srgbClr val="ffffff"/>
                  </a:solidFill>
                  <a:effectLst/>
                  <a:uFillTx/>
                  <a:latin typeface="Big Shoulders Display"/>
                  <a:ea typeface="Big Shoulders Display"/>
                </a:rPr>
                <a:t>Results &amp; Discussion</a:t>
              </a:r>
              <a:endParaRPr b="0" lang="en-IN" sz="75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229" name="Group 10"/>
          <p:cNvGrpSpPr/>
          <p:nvPr/>
        </p:nvGrpSpPr>
        <p:grpSpPr>
          <a:xfrm>
            <a:off x="712800" y="726840"/>
            <a:ext cx="3193200" cy="8821080"/>
            <a:chOff x="712800" y="726840"/>
            <a:chExt cx="3193200" cy="8821080"/>
          </a:xfrm>
        </p:grpSpPr>
        <p:sp>
          <p:nvSpPr>
            <p:cNvPr id="230" name="Freeform 11"/>
            <p:cNvSpPr/>
            <p:nvPr/>
          </p:nvSpPr>
          <p:spPr>
            <a:xfrm>
              <a:off x="712800" y="726840"/>
              <a:ext cx="3193200" cy="8821080"/>
            </a:xfrm>
            <a:custGeom>
              <a:avLst/>
              <a:gdLst>
                <a:gd name="textAreaLeft" fmla="*/ 0 w 3193200"/>
                <a:gd name="textAreaRight" fmla="*/ 3193560 w 3193200"/>
                <a:gd name="textAreaTop" fmla="*/ 0 h 8821080"/>
                <a:gd name="textAreaBottom" fmla="*/ 8821440 h 8821080"/>
              </a:gdLst>
              <a:ahLst/>
              <a:cxnLst/>
              <a:rect l="textAreaLeft" t="textAreaTop" r="textAreaRight" b="textAreaBottom"/>
              <a:pathLst>
                <a:path w="4257929" h="11761851">
                  <a:moveTo>
                    <a:pt x="0" y="0"/>
                  </a:moveTo>
                  <a:lnTo>
                    <a:pt x="4257929" y="0"/>
                  </a:lnTo>
                  <a:lnTo>
                    <a:pt x="4257929" y="11761851"/>
                  </a:lnTo>
                  <a:lnTo>
                    <a:pt x="0" y="11761851"/>
                  </a:lnTo>
                  <a:close/>
                </a:path>
              </a:pathLst>
            </a:custGeom>
            <a:solidFill>
              <a:srgbClr val="1cade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231" name="AutoShape 12"/>
          <p:cNvSpPr/>
          <p:nvPr/>
        </p:nvSpPr>
        <p:spPr>
          <a:xfrm flipV="1">
            <a:off x="4796280" y="1520280"/>
            <a:ext cx="28800" cy="1400040"/>
          </a:xfrm>
          <a:prstGeom prst="line">
            <a:avLst/>
          </a:prstGeom>
          <a:ln cap="rnd" w="19050">
            <a:solidFill>
              <a:srgbClr val="1cade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232" name="Group 13"/>
          <p:cNvGrpSpPr/>
          <p:nvPr/>
        </p:nvGrpSpPr>
        <p:grpSpPr>
          <a:xfrm>
            <a:off x="849600" y="982080"/>
            <a:ext cx="2816640" cy="703800"/>
            <a:chOff x="849600" y="982080"/>
            <a:chExt cx="2816640" cy="703800"/>
          </a:xfrm>
        </p:grpSpPr>
        <p:sp>
          <p:nvSpPr>
            <p:cNvPr id="233" name="Freeform 14" descr="A blue and red logo  AI-generated content may be incorrect."/>
            <p:cNvSpPr/>
            <p:nvPr/>
          </p:nvSpPr>
          <p:spPr>
            <a:xfrm>
              <a:off x="849600" y="982080"/>
              <a:ext cx="2816640" cy="703800"/>
            </a:xfrm>
            <a:custGeom>
              <a:avLst/>
              <a:gdLst>
                <a:gd name="textAreaLeft" fmla="*/ 0 w 2816640"/>
                <a:gd name="textAreaRight" fmla="*/ 2817000 w 2816640"/>
                <a:gd name="textAreaTop" fmla="*/ 0 h 703800"/>
                <a:gd name="textAreaBottom" fmla="*/ 704160 h 703800"/>
              </a:gdLst>
              <a:ahLst/>
              <a:cxnLst/>
              <a:rect l="textAreaLeft" t="textAreaTop" r="textAreaRight" b="textAreaBottom"/>
              <a:pathLst>
                <a:path w="3756025" h="939038">
                  <a:moveTo>
                    <a:pt x="0" y="0"/>
                  </a:moveTo>
                  <a:lnTo>
                    <a:pt x="3756025" y="0"/>
                  </a:lnTo>
                  <a:lnTo>
                    <a:pt x="3756025" y="939038"/>
                  </a:lnTo>
                  <a:lnTo>
                    <a:pt x="0" y="939038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2"/>
              <a:srcRect/>
              <a:stretch>
                <a:fillRect r="-33333" b="-33350"/>
              </a:stretch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234" name="Group 15"/>
          <p:cNvGrpSpPr/>
          <p:nvPr/>
        </p:nvGrpSpPr>
        <p:grpSpPr>
          <a:xfrm>
            <a:off x="849600" y="884880"/>
            <a:ext cx="2816640" cy="8419680"/>
            <a:chOff x="849600" y="884880"/>
            <a:chExt cx="2816640" cy="8419680"/>
          </a:xfrm>
        </p:grpSpPr>
        <p:sp>
          <p:nvSpPr>
            <p:cNvPr id="235" name="Freeform 16"/>
            <p:cNvSpPr/>
            <p:nvPr/>
          </p:nvSpPr>
          <p:spPr>
            <a:xfrm>
              <a:off x="849600" y="884880"/>
              <a:ext cx="2816640" cy="8419320"/>
            </a:xfrm>
            <a:custGeom>
              <a:avLst/>
              <a:gdLst>
                <a:gd name="textAreaLeft" fmla="*/ 0 w 2816640"/>
                <a:gd name="textAreaRight" fmla="*/ 2817000 w 2816640"/>
                <a:gd name="textAreaTop" fmla="*/ 0 h 8419320"/>
                <a:gd name="textAreaBottom" fmla="*/ 8419680 h 8419320"/>
              </a:gdLst>
              <a:ahLst/>
              <a:cxnLst/>
              <a:rect l="textAreaLeft" t="textAreaTop" r="textAreaRight" b="textAreaBottom"/>
              <a:pathLst>
                <a:path w="3755980" h="11226474">
                  <a:moveTo>
                    <a:pt x="0" y="0"/>
                  </a:moveTo>
                  <a:lnTo>
                    <a:pt x="3755980" y="0"/>
                  </a:lnTo>
                  <a:lnTo>
                    <a:pt x="3755980" y="11226474"/>
                  </a:lnTo>
                  <a:lnTo>
                    <a:pt x="0" y="11226474"/>
                  </a:lnTo>
                  <a:close/>
                </a:path>
              </a:pathLst>
            </a:custGeom>
            <a:blipFill rotWithShape="0">
              <a:blip r:embed="rId3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36" name="TextBox 17"/>
            <p:cNvSpPr/>
            <p:nvPr/>
          </p:nvSpPr>
          <p:spPr>
            <a:xfrm>
              <a:off x="849600" y="934920"/>
              <a:ext cx="2816640" cy="83696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defTabSz="914400">
                <a:lnSpc>
                  <a:spcPts val="2880"/>
                </a:lnSpc>
              </a:pPr>
              <a:r>
                <a:rPr b="0" lang="en-US" sz="3000" spc="156" strike="noStrike" u="none">
                  <a:solidFill>
                    <a:srgbClr val="ffffff"/>
                  </a:solidFill>
                  <a:effectLst/>
                  <a:uFillTx/>
                  <a:latin typeface="Big Shoulders Display"/>
                  <a:ea typeface="Big Shoulders Display"/>
                </a:rPr>
                <a:t>JAVA Programming Project Presentation</a:t>
              </a:r>
              <a:endParaRPr b="0" lang="en-IN" sz="30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237" name="TextBox 18"/>
          <p:cNvSpPr/>
          <p:nvPr/>
        </p:nvSpPr>
        <p:spPr>
          <a:xfrm>
            <a:off x="4555800" y="2988000"/>
            <a:ext cx="9176040" cy="617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4946"/>
              </a:lnSpc>
            </a:pPr>
            <a:r>
              <a:rPr b="0" lang="en-US" sz="3530" spc="77" strike="noStrike" u="none">
                <a:solidFill>
                  <a:srgbClr val="ffffff"/>
                </a:solidFill>
                <a:effectLst/>
                <a:uFillTx/>
                <a:latin typeface="Big Shoulders Display"/>
                <a:ea typeface="Big Shoulders Display"/>
              </a:rPr>
              <a:t>System works correctly </a:t>
            </a:r>
            <a:endParaRPr b="0" lang="en-IN" sz="353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ts val="4946"/>
              </a:lnSpc>
            </a:pPr>
            <a:r>
              <a:rPr b="0" lang="en-US" sz="3530" spc="77" strike="noStrike" u="none">
                <a:solidFill>
                  <a:srgbClr val="ffffff"/>
                </a:solidFill>
                <a:effectLst/>
                <a:uFillTx/>
                <a:latin typeface="Big Shoulders Display"/>
                <a:ea typeface="Big Shoulders Display"/>
              </a:rPr>
              <a:t>Fast billing process      </a:t>
            </a:r>
            <a:endParaRPr b="0" lang="en-IN" sz="353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ts val="4946"/>
              </a:lnSpc>
            </a:pPr>
            <a:r>
              <a:rPr b="0" lang="en-US" sz="3530" spc="77" strike="noStrike" u="none">
                <a:solidFill>
                  <a:srgbClr val="ffffff"/>
                </a:solidFill>
                <a:effectLst/>
                <a:uFillTx/>
                <a:latin typeface="Big Shoulders Display"/>
                <a:ea typeface="Big Shoulders Display"/>
              </a:rPr>
              <a:t>Accurate calculations    </a:t>
            </a:r>
            <a:endParaRPr b="0" lang="en-IN" sz="353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ts val="4946"/>
              </a:lnSpc>
            </a:pPr>
            <a:r>
              <a:rPr b="0" lang="en-US" sz="3530" spc="77" strike="noStrike" u="none">
                <a:solidFill>
                  <a:srgbClr val="ffffff"/>
                </a:solidFill>
                <a:effectLst/>
                <a:uFillTx/>
                <a:latin typeface="Big Shoulders Display"/>
                <a:ea typeface="Big Shoulders Display"/>
              </a:rPr>
              <a:t>Easy to use interface    </a:t>
            </a:r>
            <a:endParaRPr b="0" lang="en-IN" sz="353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ts val="4946"/>
              </a:lnSpc>
            </a:pPr>
            <a:r>
              <a:rPr b="0" lang="en-US" sz="3530" spc="77" strike="noStrike" u="none">
                <a:solidFill>
                  <a:srgbClr val="ffffff"/>
                </a:solidFill>
                <a:effectLst/>
                <a:uFillTx/>
                <a:latin typeface="Big Shoulders Display"/>
                <a:ea typeface="Big Shoulders Display"/>
              </a:rPr>
              <a:t>Challenges faced:                            </a:t>
            </a:r>
            <a:endParaRPr b="0" lang="en-IN" sz="353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ts val="4946"/>
              </a:lnSpc>
            </a:pPr>
            <a:r>
              <a:rPr b="0" lang="en-US" sz="3530" spc="77" strike="noStrike" u="none">
                <a:solidFill>
                  <a:srgbClr val="ffffff"/>
                </a:solidFill>
                <a:effectLst/>
                <a:uFillTx/>
                <a:latin typeface="Big Shoulders Display"/>
                <a:ea typeface="Big Shoulders Display"/>
              </a:rPr>
              <a:t>Barcode logic implementation</a:t>
            </a:r>
            <a:endParaRPr b="0" lang="en-IN" sz="353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ts val="4946"/>
              </a:lnSpc>
            </a:pPr>
            <a:r>
              <a:rPr b="0" lang="en-US" sz="3530" spc="77" strike="noStrike" u="none">
                <a:solidFill>
                  <a:srgbClr val="ffffff"/>
                </a:solidFill>
                <a:effectLst/>
                <a:uFillTx/>
                <a:latin typeface="Big Shoulders Display"/>
                <a:ea typeface="Big Shoulders Display"/>
              </a:rPr>
              <a:t>Handling user input error       </a:t>
            </a:r>
            <a:endParaRPr b="0" lang="en-IN" sz="353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ts val="4946"/>
              </a:lnSpc>
            </a:pPr>
            <a:r>
              <a:rPr b="0" lang="en-US" sz="3530" spc="77" strike="noStrike" u="none">
                <a:solidFill>
                  <a:srgbClr val="ffffff"/>
                </a:solidFill>
                <a:effectLst/>
                <a:uFillTx/>
                <a:latin typeface="Big Shoulders Display"/>
                <a:ea typeface="Big Shoulders Display"/>
              </a:rPr>
              <a:t>Solution:                                         </a:t>
            </a:r>
            <a:endParaRPr b="0" lang="en-IN" sz="353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ts val="4946"/>
              </a:lnSpc>
            </a:pPr>
            <a:r>
              <a:rPr b="0" lang="en-US" sz="3530" spc="77" strike="noStrike" u="none">
                <a:solidFill>
                  <a:srgbClr val="ffffff"/>
                </a:solidFill>
                <a:effectLst/>
                <a:uFillTx/>
                <a:latin typeface="Big Shoulders Display"/>
                <a:ea typeface="Big Shoulders Display"/>
              </a:rPr>
              <a:t>Used HashMap                    </a:t>
            </a:r>
            <a:endParaRPr b="0" lang="en-IN" sz="353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ts val="4946"/>
              </a:lnSpc>
            </a:pPr>
            <a:r>
              <a:rPr b="0" lang="en-US" sz="3530" spc="77" strike="noStrike" u="none">
                <a:solidFill>
                  <a:srgbClr val="ffffff"/>
                </a:solidFill>
                <a:effectLst/>
                <a:uFillTx/>
                <a:latin typeface="Big Shoulders Display"/>
                <a:ea typeface="Big Shoulders Display"/>
              </a:rPr>
              <a:t>Added validation                </a:t>
            </a:r>
            <a:endParaRPr b="0" lang="en-IN" sz="353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f4fbfe"/>
            </a:gs>
            <a:gs pos="74000">
              <a:srgbClr val="99daf3"/>
            </a:gs>
            <a:gs pos="83000">
              <a:srgbClr val="99daf3"/>
            </a:gs>
            <a:gs pos="100000">
              <a:srgbClr val="bbe6f7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AutoShape 2"/>
          <p:cNvSpPr/>
          <p:nvPr/>
        </p:nvSpPr>
        <p:spPr>
          <a:xfrm flipV="1">
            <a:off x="1128600" y="1215360"/>
            <a:ext cx="28440" cy="1400400"/>
          </a:xfrm>
          <a:prstGeom prst="line">
            <a:avLst/>
          </a:prstGeom>
          <a:ln cap="rnd" w="19050">
            <a:solidFill>
              <a:srgbClr val="1cade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239" name="Group 3"/>
          <p:cNvGrpSpPr/>
          <p:nvPr/>
        </p:nvGrpSpPr>
        <p:grpSpPr>
          <a:xfrm>
            <a:off x="0" y="0"/>
            <a:ext cx="18287640" cy="10286640"/>
            <a:chOff x="0" y="0"/>
            <a:chExt cx="18287640" cy="10286640"/>
          </a:xfrm>
        </p:grpSpPr>
        <p:sp>
          <p:nvSpPr>
            <p:cNvPr id="240" name="Freeform 4"/>
            <p:cNvSpPr/>
            <p:nvPr/>
          </p:nvSpPr>
          <p:spPr>
            <a:xfrm>
              <a:off x="0" y="0"/>
              <a:ext cx="18287640" cy="10286640"/>
            </a:xfrm>
            <a:custGeom>
              <a:avLst/>
              <a:gdLst>
                <a:gd name="textAreaLeft" fmla="*/ 0 w 18287640"/>
                <a:gd name="textAreaRight" fmla="*/ 18288000 w 18287640"/>
                <a:gd name="textAreaTop" fmla="*/ 0 h 10286640"/>
                <a:gd name="textAreaBottom" fmla="*/ 10287000 h 10286640"/>
              </a:gdLst>
              <a:ahLst/>
              <a:cxnLst/>
              <a:rect l="textAreaLeft" t="textAreaTop" r="textAreaRight" b="textAreaBottom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241" name="Group 5"/>
          <p:cNvGrpSpPr/>
          <p:nvPr/>
        </p:nvGrpSpPr>
        <p:grpSpPr>
          <a:xfrm>
            <a:off x="4159080" y="726840"/>
            <a:ext cx="13421880" cy="8821080"/>
            <a:chOff x="4159080" y="726840"/>
            <a:chExt cx="13421880" cy="8821080"/>
          </a:xfrm>
        </p:grpSpPr>
        <p:sp>
          <p:nvSpPr>
            <p:cNvPr id="242" name="Freeform 6"/>
            <p:cNvSpPr/>
            <p:nvPr/>
          </p:nvSpPr>
          <p:spPr>
            <a:xfrm>
              <a:off x="4159080" y="726840"/>
              <a:ext cx="13421880" cy="8821080"/>
            </a:xfrm>
            <a:custGeom>
              <a:avLst/>
              <a:gdLst>
                <a:gd name="textAreaLeft" fmla="*/ 0 w 13421880"/>
                <a:gd name="textAreaRight" fmla="*/ 13422240 w 13421880"/>
                <a:gd name="textAreaTop" fmla="*/ 0 h 8821080"/>
                <a:gd name="textAreaBottom" fmla="*/ 8821440 h 8821080"/>
              </a:gdLst>
              <a:ahLst/>
              <a:cxnLst/>
              <a:rect l="textAreaLeft" t="textAreaTop" r="textAreaRight" b="textAreaBottom"/>
              <a:pathLst>
                <a:path w="17896332" h="11761851">
                  <a:moveTo>
                    <a:pt x="0" y="0"/>
                  </a:moveTo>
                  <a:lnTo>
                    <a:pt x="17896332" y="0"/>
                  </a:lnTo>
                  <a:lnTo>
                    <a:pt x="17896332" y="11761851"/>
                  </a:lnTo>
                  <a:lnTo>
                    <a:pt x="0" y="11761851"/>
                  </a:lnTo>
                  <a:close/>
                </a:path>
              </a:pathLst>
            </a:custGeom>
            <a:solidFill>
              <a:srgbClr val="40404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IN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243" name="Group 7"/>
          <p:cNvGrpSpPr/>
          <p:nvPr/>
        </p:nvGrpSpPr>
        <p:grpSpPr>
          <a:xfrm>
            <a:off x="5204160" y="1182600"/>
            <a:ext cx="11884680" cy="2249280"/>
            <a:chOff x="5204160" y="1182600"/>
            <a:chExt cx="11884680" cy="2249280"/>
          </a:xfrm>
        </p:grpSpPr>
        <p:sp>
          <p:nvSpPr>
            <p:cNvPr id="244" name="Freeform 8"/>
            <p:cNvSpPr/>
            <p:nvPr/>
          </p:nvSpPr>
          <p:spPr>
            <a:xfrm>
              <a:off x="5204160" y="1182600"/>
              <a:ext cx="11884680" cy="2248920"/>
            </a:xfrm>
            <a:custGeom>
              <a:avLst/>
              <a:gdLst>
                <a:gd name="textAreaLeft" fmla="*/ 0 w 11884680"/>
                <a:gd name="textAreaRight" fmla="*/ 11885040 w 11884680"/>
                <a:gd name="textAreaTop" fmla="*/ 0 h 2248920"/>
                <a:gd name="textAreaBottom" fmla="*/ 2249280 h 2248920"/>
              </a:gdLst>
              <a:ahLst/>
              <a:cxnLst/>
              <a:rect l="textAreaLeft" t="textAreaTop" r="textAreaRight" b="textAreaBottom"/>
              <a:pathLst>
                <a:path w="15846529" h="2999232">
                  <a:moveTo>
                    <a:pt x="0" y="0"/>
                  </a:moveTo>
                  <a:lnTo>
                    <a:pt x="15846529" y="0"/>
                  </a:lnTo>
                  <a:lnTo>
                    <a:pt x="15846529" y="2999232"/>
                  </a:lnTo>
                  <a:lnTo>
                    <a:pt x="0" y="2999232"/>
                  </a:lnTo>
                  <a:close/>
                </a:path>
              </a:pathLst>
            </a:custGeom>
            <a:blipFill rotWithShape="0">
              <a:blip r:embed="rId1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45" name="TextBox 9"/>
            <p:cNvSpPr/>
            <p:nvPr/>
          </p:nvSpPr>
          <p:spPr>
            <a:xfrm>
              <a:off x="5204160" y="1297080"/>
              <a:ext cx="11884680" cy="21348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defTabSz="914400">
                <a:lnSpc>
                  <a:spcPts val="7200"/>
                </a:lnSpc>
              </a:pPr>
              <a:r>
                <a:rPr b="0" lang="en-US" sz="7500" spc="164" strike="noStrike" u="none">
                  <a:solidFill>
                    <a:srgbClr val="ffffff"/>
                  </a:solidFill>
                  <a:effectLst/>
                  <a:uFillTx/>
                  <a:latin typeface="Big Shoulders Display"/>
                  <a:ea typeface="Big Shoulders Display"/>
                </a:rPr>
                <a:t>Conclusion &amp; Future Enhancement</a:t>
              </a:r>
              <a:endParaRPr b="0" lang="en-IN" sz="75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246" name="Group 10"/>
          <p:cNvGrpSpPr/>
          <p:nvPr/>
        </p:nvGrpSpPr>
        <p:grpSpPr>
          <a:xfrm>
            <a:off x="712800" y="726840"/>
            <a:ext cx="3193200" cy="8821080"/>
            <a:chOff x="712800" y="726840"/>
            <a:chExt cx="3193200" cy="8821080"/>
          </a:xfrm>
        </p:grpSpPr>
        <p:sp>
          <p:nvSpPr>
            <p:cNvPr id="247" name="Freeform 11"/>
            <p:cNvSpPr/>
            <p:nvPr/>
          </p:nvSpPr>
          <p:spPr>
            <a:xfrm>
              <a:off x="712800" y="726840"/>
              <a:ext cx="3193200" cy="8821080"/>
            </a:xfrm>
            <a:custGeom>
              <a:avLst/>
              <a:gdLst>
                <a:gd name="textAreaLeft" fmla="*/ 0 w 3193200"/>
                <a:gd name="textAreaRight" fmla="*/ 3193560 w 3193200"/>
                <a:gd name="textAreaTop" fmla="*/ 0 h 8821080"/>
                <a:gd name="textAreaBottom" fmla="*/ 8821440 h 8821080"/>
              </a:gdLst>
              <a:ahLst/>
              <a:cxnLst/>
              <a:rect l="textAreaLeft" t="textAreaTop" r="textAreaRight" b="textAreaBottom"/>
              <a:pathLst>
                <a:path w="4257929" h="11761851">
                  <a:moveTo>
                    <a:pt x="0" y="0"/>
                  </a:moveTo>
                  <a:lnTo>
                    <a:pt x="4257929" y="0"/>
                  </a:lnTo>
                  <a:lnTo>
                    <a:pt x="4257929" y="11761851"/>
                  </a:lnTo>
                  <a:lnTo>
                    <a:pt x="0" y="11761851"/>
                  </a:lnTo>
                  <a:close/>
                </a:path>
              </a:pathLst>
            </a:custGeom>
            <a:solidFill>
              <a:srgbClr val="1cade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248" name="AutoShape 12"/>
          <p:cNvSpPr/>
          <p:nvPr/>
        </p:nvSpPr>
        <p:spPr>
          <a:xfrm flipV="1">
            <a:off x="4796280" y="1520280"/>
            <a:ext cx="28800" cy="1400040"/>
          </a:xfrm>
          <a:prstGeom prst="line">
            <a:avLst/>
          </a:prstGeom>
          <a:ln cap="rnd" w="19050">
            <a:solidFill>
              <a:srgbClr val="1cade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9" name="TextBox 13"/>
          <p:cNvSpPr/>
          <p:nvPr/>
        </p:nvSpPr>
        <p:spPr>
          <a:xfrm>
            <a:off x="5249880" y="3789000"/>
            <a:ext cx="11793240" cy="3682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2429"/>
              </a:lnSpc>
            </a:pP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407160" indent="-203760" defTabSz="914400">
              <a:lnSpc>
                <a:spcPts val="2429"/>
              </a:lnSpc>
              <a:buClr>
                <a:srgbClr val="ffffff"/>
              </a:buClr>
              <a:buFont typeface="Arial"/>
              <a:buChar char="•"/>
            </a:pPr>
            <a:r>
              <a:rPr b="0" lang="en-US" sz="225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Conclusion:</a:t>
            </a:r>
            <a:endParaRPr b="0" lang="en-IN" sz="2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407160" indent="-203760" defTabSz="914400">
              <a:lnSpc>
                <a:spcPts val="2429"/>
              </a:lnSpc>
              <a:buClr>
                <a:srgbClr val="ffffff"/>
              </a:buClr>
              <a:buFont typeface="Arial"/>
              <a:buChar char="•"/>
            </a:pPr>
            <a:r>
              <a:rPr b="0" lang="en-US" sz="225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Successfully created billing system</a:t>
            </a:r>
            <a:endParaRPr b="0" lang="en-IN" sz="2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407160" indent="-203760" defTabSz="914400">
              <a:lnSpc>
                <a:spcPts val="2429"/>
              </a:lnSpc>
              <a:buClr>
                <a:srgbClr val="ffffff"/>
              </a:buClr>
              <a:buFont typeface="Arial"/>
              <a:buChar char="•"/>
            </a:pPr>
            <a:r>
              <a:rPr b="0" lang="en-US" sz="225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Reduced manual work</a:t>
            </a:r>
            <a:endParaRPr b="0" lang="en-IN" sz="2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407160" indent="-203760" defTabSz="914400">
              <a:lnSpc>
                <a:spcPts val="2429"/>
              </a:lnSpc>
              <a:buClr>
                <a:srgbClr val="ffffff"/>
              </a:buClr>
              <a:buFont typeface="Arial"/>
              <a:buChar char="•"/>
            </a:pPr>
            <a:r>
              <a:rPr b="0" lang="en-US" sz="225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Improved accuracy</a:t>
            </a:r>
            <a:endParaRPr b="0" lang="en-IN" sz="2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407160" indent="-203760" defTabSz="914400">
              <a:lnSpc>
                <a:spcPts val="2429"/>
              </a:lnSpc>
              <a:buClr>
                <a:srgbClr val="ffffff"/>
              </a:buClr>
              <a:buFont typeface="Arial"/>
              <a:buChar char="•"/>
            </a:pPr>
            <a:r>
              <a:rPr b="0" lang="en-US" sz="225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Future Enhancements:</a:t>
            </a:r>
            <a:endParaRPr b="0" lang="en-IN" sz="2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407160" indent="-203760" defTabSz="914400">
              <a:lnSpc>
                <a:spcPts val="2429"/>
              </a:lnSpc>
              <a:buClr>
                <a:srgbClr val="ffffff"/>
              </a:buClr>
              <a:buFont typeface="Arial"/>
              <a:buChar char="•"/>
            </a:pPr>
            <a:r>
              <a:rPr b="0" lang="en-US" sz="225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Add real barcode scanner device</a:t>
            </a:r>
            <a:endParaRPr b="0" lang="en-IN" sz="2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407160" indent="-203760" defTabSz="914400">
              <a:lnSpc>
                <a:spcPts val="2429"/>
              </a:lnSpc>
              <a:buClr>
                <a:srgbClr val="ffffff"/>
              </a:buClr>
              <a:buFont typeface="Arial"/>
              <a:buChar char="•"/>
            </a:pPr>
            <a:r>
              <a:rPr b="0" lang="en-US" sz="225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Connect with database (MySQL)</a:t>
            </a:r>
            <a:endParaRPr b="0" lang="en-IN" sz="2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407160" indent="-203760" defTabSz="914400">
              <a:lnSpc>
                <a:spcPts val="2429"/>
              </a:lnSpc>
              <a:buClr>
                <a:srgbClr val="ffffff"/>
              </a:buClr>
              <a:buFont typeface="Arial"/>
              <a:buChar char="•"/>
            </a:pPr>
            <a:r>
              <a:rPr b="0" lang="en-US" sz="225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Add GST calculation</a:t>
            </a:r>
            <a:endParaRPr b="0" lang="en-IN" sz="2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407160" indent="-203760" defTabSz="914400">
              <a:lnSpc>
                <a:spcPts val="2429"/>
              </a:lnSpc>
              <a:buClr>
                <a:srgbClr val="ffffff"/>
              </a:buClr>
              <a:buFont typeface="Arial"/>
              <a:buChar char="•"/>
            </a:pPr>
            <a:r>
              <a:rPr b="0" lang="en-US" sz="225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Print bill option 🧾</a:t>
            </a:r>
            <a:endParaRPr b="0" lang="en-IN" sz="2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407160" indent="-203760" defTabSz="914400">
              <a:lnSpc>
                <a:spcPts val="2429"/>
              </a:lnSpc>
              <a:buClr>
                <a:srgbClr val="ffffff"/>
              </a:buClr>
              <a:buFont typeface="Arial"/>
              <a:buChar char="•"/>
            </a:pPr>
            <a:r>
              <a:rPr b="0" lang="en-US" sz="225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Add login system</a:t>
            </a:r>
            <a:endParaRPr b="0" lang="en-IN" sz="2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429"/>
              </a:lnSpc>
            </a:pP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250" name="Group 14"/>
          <p:cNvGrpSpPr/>
          <p:nvPr/>
        </p:nvGrpSpPr>
        <p:grpSpPr>
          <a:xfrm>
            <a:off x="849600" y="982080"/>
            <a:ext cx="2816640" cy="703800"/>
            <a:chOff x="849600" y="982080"/>
            <a:chExt cx="2816640" cy="703800"/>
          </a:xfrm>
        </p:grpSpPr>
        <p:sp>
          <p:nvSpPr>
            <p:cNvPr id="251" name="Freeform 15" descr="A blue and red logo  AI-generated content may be incorrect."/>
            <p:cNvSpPr/>
            <p:nvPr/>
          </p:nvSpPr>
          <p:spPr>
            <a:xfrm>
              <a:off x="849600" y="982080"/>
              <a:ext cx="2816640" cy="703800"/>
            </a:xfrm>
            <a:custGeom>
              <a:avLst/>
              <a:gdLst>
                <a:gd name="textAreaLeft" fmla="*/ 0 w 2816640"/>
                <a:gd name="textAreaRight" fmla="*/ 2817000 w 2816640"/>
                <a:gd name="textAreaTop" fmla="*/ 0 h 703800"/>
                <a:gd name="textAreaBottom" fmla="*/ 704160 h 703800"/>
              </a:gdLst>
              <a:ahLst/>
              <a:cxnLst/>
              <a:rect l="textAreaLeft" t="textAreaTop" r="textAreaRight" b="textAreaBottom"/>
              <a:pathLst>
                <a:path w="3756025" h="939038">
                  <a:moveTo>
                    <a:pt x="0" y="0"/>
                  </a:moveTo>
                  <a:lnTo>
                    <a:pt x="3756025" y="0"/>
                  </a:lnTo>
                  <a:lnTo>
                    <a:pt x="3756025" y="939038"/>
                  </a:lnTo>
                  <a:lnTo>
                    <a:pt x="0" y="939038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2"/>
              <a:srcRect/>
              <a:stretch>
                <a:fillRect r="-33333" b="-33350"/>
              </a:stretch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252" name="Group 16"/>
          <p:cNvGrpSpPr/>
          <p:nvPr/>
        </p:nvGrpSpPr>
        <p:grpSpPr>
          <a:xfrm>
            <a:off x="849600" y="884880"/>
            <a:ext cx="2816640" cy="8419680"/>
            <a:chOff x="849600" y="884880"/>
            <a:chExt cx="2816640" cy="8419680"/>
          </a:xfrm>
        </p:grpSpPr>
        <p:sp>
          <p:nvSpPr>
            <p:cNvPr id="253" name="Freeform 17"/>
            <p:cNvSpPr/>
            <p:nvPr/>
          </p:nvSpPr>
          <p:spPr>
            <a:xfrm>
              <a:off x="849600" y="884880"/>
              <a:ext cx="2816640" cy="8419320"/>
            </a:xfrm>
            <a:custGeom>
              <a:avLst/>
              <a:gdLst>
                <a:gd name="textAreaLeft" fmla="*/ 0 w 2816640"/>
                <a:gd name="textAreaRight" fmla="*/ 2817000 w 2816640"/>
                <a:gd name="textAreaTop" fmla="*/ 0 h 8419320"/>
                <a:gd name="textAreaBottom" fmla="*/ 8419680 h 8419320"/>
              </a:gdLst>
              <a:ahLst/>
              <a:cxnLst/>
              <a:rect l="textAreaLeft" t="textAreaTop" r="textAreaRight" b="textAreaBottom"/>
              <a:pathLst>
                <a:path w="3755980" h="11226474">
                  <a:moveTo>
                    <a:pt x="0" y="0"/>
                  </a:moveTo>
                  <a:lnTo>
                    <a:pt x="3755980" y="0"/>
                  </a:lnTo>
                  <a:lnTo>
                    <a:pt x="3755980" y="11226474"/>
                  </a:lnTo>
                  <a:lnTo>
                    <a:pt x="0" y="11226474"/>
                  </a:lnTo>
                  <a:close/>
                </a:path>
              </a:pathLst>
            </a:custGeom>
            <a:blipFill rotWithShape="0">
              <a:blip r:embed="rId3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54" name="TextBox 18"/>
            <p:cNvSpPr/>
            <p:nvPr/>
          </p:nvSpPr>
          <p:spPr>
            <a:xfrm>
              <a:off x="849600" y="934920"/>
              <a:ext cx="2816640" cy="83696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defTabSz="914400">
                <a:lnSpc>
                  <a:spcPts val="2880"/>
                </a:lnSpc>
              </a:pPr>
              <a:r>
                <a:rPr b="0" lang="en-US" sz="3000" spc="156" strike="noStrike" u="none">
                  <a:solidFill>
                    <a:srgbClr val="ffffff"/>
                  </a:solidFill>
                  <a:effectLst/>
                  <a:uFillTx/>
                  <a:latin typeface="Big Shoulders Display"/>
                  <a:ea typeface="Big Shoulders Display"/>
                </a:rPr>
                <a:t>JAVA Programming Project Presentation</a:t>
              </a:r>
              <a:endParaRPr b="0" lang="en-IN" sz="30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f4fbfe"/>
            </a:gs>
            <a:gs pos="74000">
              <a:srgbClr val="99daf3"/>
            </a:gs>
            <a:gs pos="83000">
              <a:srgbClr val="99daf3"/>
            </a:gs>
            <a:gs pos="100000">
              <a:srgbClr val="bbe6f7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AutoShape 2"/>
          <p:cNvSpPr/>
          <p:nvPr/>
        </p:nvSpPr>
        <p:spPr>
          <a:xfrm flipV="1">
            <a:off x="1128600" y="1215360"/>
            <a:ext cx="28440" cy="1400400"/>
          </a:xfrm>
          <a:prstGeom prst="line">
            <a:avLst/>
          </a:prstGeom>
          <a:ln cap="rnd" w="19050">
            <a:solidFill>
              <a:srgbClr val="1cade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256" name="Group 3"/>
          <p:cNvGrpSpPr/>
          <p:nvPr/>
        </p:nvGrpSpPr>
        <p:grpSpPr>
          <a:xfrm>
            <a:off x="0" y="0"/>
            <a:ext cx="18287640" cy="10286640"/>
            <a:chOff x="0" y="0"/>
            <a:chExt cx="18287640" cy="10286640"/>
          </a:xfrm>
        </p:grpSpPr>
        <p:sp>
          <p:nvSpPr>
            <p:cNvPr id="257" name="Freeform 4"/>
            <p:cNvSpPr/>
            <p:nvPr/>
          </p:nvSpPr>
          <p:spPr>
            <a:xfrm>
              <a:off x="0" y="0"/>
              <a:ext cx="18287640" cy="10286640"/>
            </a:xfrm>
            <a:custGeom>
              <a:avLst/>
              <a:gdLst>
                <a:gd name="textAreaLeft" fmla="*/ 0 w 18287640"/>
                <a:gd name="textAreaRight" fmla="*/ 18288000 w 18287640"/>
                <a:gd name="textAreaTop" fmla="*/ 0 h 10286640"/>
                <a:gd name="textAreaBottom" fmla="*/ 10287000 h 10286640"/>
              </a:gdLst>
              <a:ahLst/>
              <a:cxnLst/>
              <a:rect l="textAreaLeft" t="textAreaTop" r="textAreaRight" b="textAreaBottom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258" name="Group 5"/>
          <p:cNvGrpSpPr/>
          <p:nvPr/>
        </p:nvGrpSpPr>
        <p:grpSpPr>
          <a:xfrm>
            <a:off x="4059000" y="732960"/>
            <a:ext cx="13421880" cy="8821080"/>
            <a:chOff x="4059000" y="732960"/>
            <a:chExt cx="13421880" cy="8821080"/>
          </a:xfrm>
        </p:grpSpPr>
        <p:sp>
          <p:nvSpPr>
            <p:cNvPr id="259" name="Freeform 6"/>
            <p:cNvSpPr/>
            <p:nvPr/>
          </p:nvSpPr>
          <p:spPr>
            <a:xfrm>
              <a:off x="4059000" y="732960"/>
              <a:ext cx="13421880" cy="8821080"/>
            </a:xfrm>
            <a:custGeom>
              <a:avLst/>
              <a:gdLst>
                <a:gd name="textAreaLeft" fmla="*/ 0 w 13421880"/>
                <a:gd name="textAreaRight" fmla="*/ 13422240 w 13421880"/>
                <a:gd name="textAreaTop" fmla="*/ 0 h 8821080"/>
                <a:gd name="textAreaBottom" fmla="*/ 8821440 h 8821080"/>
              </a:gdLst>
              <a:ahLst/>
              <a:cxnLst/>
              <a:rect l="textAreaLeft" t="textAreaTop" r="textAreaRight" b="textAreaBottom"/>
              <a:pathLst>
                <a:path w="17896332" h="11761851">
                  <a:moveTo>
                    <a:pt x="0" y="0"/>
                  </a:moveTo>
                  <a:lnTo>
                    <a:pt x="17896332" y="0"/>
                  </a:lnTo>
                  <a:lnTo>
                    <a:pt x="17896332" y="11761851"/>
                  </a:lnTo>
                  <a:lnTo>
                    <a:pt x="0" y="11761851"/>
                  </a:lnTo>
                  <a:close/>
                </a:path>
              </a:pathLst>
            </a:custGeom>
            <a:solidFill>
              <a:srgbClr val="40404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IN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260" name="Group 7"/>
          <p:cNvGrpSpPr/>
          <p:nvPr/>
        </p:nvGrpSpPr>
        <p:grpSpPr>
          <a:xfrm>
            <a:off x="5204160" y="1182600"/>
            <a:ext cx="11884680" cy="2249280"/>
            <a:chOff x="5204160" y="1182600"/>
            <a:chExt cx="11884680" cy="2249280"/>
          </a:xfrm>
        </p:grpSpPr>
        <p:sp>
          <p:nvSpPr>
            <p:cNvPr id="261" name="Freeform 8"/>
            <p:cNvSpPr/>
            <p:nvPr/>
          </p:nvSpPr>
          <p:spPr>
            <a:xfrm>
              <a:off x="5204160" y="1182600"/>
              <a:ext cx="11884680" cy="2248920"/>
            </a:xfrm>
            <a:custGeom>
              <a:avLst/>
              <a:gdLst>
                <a:gd name="textAreaLeft" fmla="*/ 0 w 11884680"/>
                <a:gd name="textAreaRight" fmla="*/ 11885040 w 11884680"/>
                <a:gd name="textAreaTop" fmla="*/ 0 h 2248920"/>
                <a:gd name="textAreaBottom" fmla="*/ 2249280 h 2248920"/>
              </a:gdLst>
              <a:ahLst/>
              <a:cxnLst/>
              <a:rect l="textAreaLeft" t="textAreaTop" r="textAreaRight" b="textAreaBottom"/>
              <a:pathLst>
                <a:path w="15846529" h="2999232">
                  <a:moveTo>
                    <a:pt x="0" y="0"/>
                  </a:moveTo>
                  <a:lnTo>
                    <a:pt x="15846529" y="0"/>
                  </a:lnTo>
                  <a:lnTo>
                    <a:pt x="15846529" y="2999232"/>
                  </a:lnTo>
                  <a:lnTo>
                    <a:pt x="0" y="2999232"/>
                  </a:lnTo>
                  <a:close/>
                </a:path>
              </a:pathLst>
            </a:custGeom>
            <a:blipFill rotWithShape="0">
              <a:blip r:embed="rId1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62" name="TextBox 9"/>
            <p:cNvSpPr/>
            <p:nvPr/>
          </p:nvSpPr>
          <p:spPr>
            <a:xfrm>
              <a:off x="5204160" y="1297080"/>
              <a:ext cx="11884680" cy="21348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defTabSz="914400">
                <a:lnSpc>
                  <a:spcPts val="7200"/>
                </a:lnSpc>
              </a:pPr>
              <a:r>
                <a:rPr b="0" lang="en-US" sz="7500" spc="164" strike="noStrike" u="none">
                  <a:solidFill>
                    <a:srgbClr val="ffffff"/>
                  </a:solidFill>
                  <a:effectLst/>
                  <a:uFillTx/>
                  <a:latin typeface="Big Shoulders Display"/>
                  <a:ea typeface="Big Shoulders Display"/>
                </a:rPr>
                <a:t>References / Acknowledgement</a:t>
              </a:r>
              <a:endParaRPr b="0" lang="en-IN" sz="75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263" name="Group 10"/>
          <p:cNvGrpSpPr/>
          <p:nvPr/>
        </p:nvGrpSpPr>
        <p:grpSpPr>
          <a:xfrm>
            <a:off x="712800" y="726840"/>
            <a:ext cx="3193200" cy="8821080"/>
            <a:chOff x="712800" y="726840"/>
            <a:chExt cx="3193200" cy="8821080"/>
          </a:xfrm>
        </p:grpSpPr>
        <p:sp>
          <p:nvSpPr>
            <p:cNvPr id="264" name="Freeform 11"/>
            <p:cNvSpPr/>
            <p:nvPr/>
          </p:nvSpPr>
          <p:spPr>
            <a:xfrm>
              <a:off x="712800" y="726840"/>
              <a:ext cx="3193200" cy="8821080"/>
            </a:xfrm>
            <a:custGeom>
              <a:avLst/>
              <a:gdLst>
                <a:gd name="textAreaLeft" fmla="*/ 0 w 3193200"/>
                <a:gd name="textAreaRight" fmla="*/ 3193560 w 3193200"/>
                <a:gd name="textAreaTop" fmla="*/ 0 h 8821080"/>
                <a:gd name="textAreaBottom" fmla="*/ 8821440 h 8821080"/>
              </a:gdLst>
              <a:ahLst/>
              <a:cxnLst/>
              <a:rect l="textAreaLeft" t="textAreaTop" r="textAreaRight" b="textAreaBottom"/>
              <a:pathLst>
                <a:path w="4257929" h="11761851">
                  <a:moveTo>
                    <a:pt x="0" y="0"/>
                  </a:moveTo>
                  <a:lnTo>
                    <a:pt x="4257929" y="0"/>
                  </a:lnTo>
                  <a:lnTo>
                    <a:pt x="4257929" y="11761851"/>
                  </a:lnTo>
                  <a:lnTo>
                    <a:pt x="0" y="11761851"/>
                  </a:lnTo>
                  <a:close/>
                </a:path>
              </a:pathLst>
            </a:custGeom>
            <a:solidFill>
              <a:srgbClr val="1cade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265" name="AutoShape 12"/>
          <p:cNvSpPr/>
          <p:nvPr/>
        </p:nvSpPr>
        <p:spPr>
          <a:xfrm flipV="1">
            <a:off x="4796280" y="1520280"/>
            <a:ext cx="28800" cy="1400040"/>
          </a:xfrm>
          <a:prstGeom prst="line">
            <a:avLst/>
          </a:prstGeom>
          <a:ln cap="rnd" w="19050">
            <a:solidFill>
              <a:srgbClr val="1cade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6" name="TextBox 13"/>
          <p:cNvSpPr/>
          <p:nvPr/>
        </p:nvSpPr>
        <p:spPr>
          <a:xfrm>
            <a:off x="5249880" y="3789000"/>
            <a:ext cx="11793240" cy="365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2917"/>
              </a:lnSpc>
            </a:pP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917"/>
              </a:lnSpc>
            </a:pPr>
            <a:r>
              <a:rPr b="1" lang="en-US" sz="2700" strike="noStrike" u="none">
                <a:solidFill>
                  <a:srgbClr val="ffffff"/>
                </a:solidFill>
                <a:effectLst/>
                <a:uFillTx/>
                <a:latin typeface="Arimo Bold"/>
                <a:ea typeface="Arimo Bold"/>
              </a:rPr>
              <a:t>References:</a:t>
            </a:r>
            <a:endParaRPr b="0" lang="en-IN" sz="2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582840" indent="-291600" defTabSz="914400">
              <a:lnSpc>
                <a:spcPts val="2917"/>
              </a:lnSpc>
              <a:buClr>
                <a:srgbClr val="ffffff"/>
              </a:buClr>
              <a:buFont typeface="Arial"/>
              <a:buChar char="•"/>
            </a:pPr>
            <a:r>
              <a:rPr b="1" lang="en-US" sz="2700" strike="noStrike" u="none">
                <a:solidFill>
                  <a:srgbClr val="ffffff"/>
                </a:solidFill>
                <a:effectLst/>
                <a:uFillTx/>
                <a:latin typeface="Arimo Bold"/>
                <a:ea typeface="Arimo Bold"/>
              </a:rPr>
              <a:t>Java Programming – E. Balagurusamy</a:t>
            </a:r>
            <a:endParaRPr b="0" lang="en-IN" sz="2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582840" indent="-291600" defTabSz="914400">
              <a:lnSpc>
                <a:spcPts val="2917"/>
              </a:lnSpc>
              <a:buClr>
                <a:srgbClr val="ffffff"/>
              </a:buClr>
              <a:buFont typeface="Arial"/>
              <a:buChar char="•"/>
            </a:pPr>
            <a:r>
              <a:rPr b="1" lang="en-US" sz="2700" strike="noStrike" u="none">
                <a:solidFill>
                  <a:srgbClr val="ffffff"/>
                </a:solidFill>
                <a:effectLst/>
                <a:uFillTx/>
                <a:latin typeface="Arimo Bold"/>
                <a:ea typeface="Arimo Bold"/>
              </a:rPr>
              <a:t>Oracle Java Documentation</a:t>
            </a:r>
            <a:endParaRPr b="0" lang="en-IN" sz="2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582840" indent="-291600" defTabSz="914400">
              <a:lnSpc>
                <a:spcPts val="2917"/>
              </a:lnSpc>
              <a:buClr>
                <a:srgbClr val="ffffff"/>
              </a:buClr>
              <a:buFont typeface="Arial"/>
              <a:buChar char="•"/>
            </a:pPr>
            <a:r>
              <a:rPr b="1" lang="en-US" sz="2700" strike="noStrike" u="none">
                <a:solidFill>
                  <a:srgbClr val="ffffff"/>
                </a:solidFill>
                <a:effectLst/>
                <a:uFillTx/>
                <a:latin typeface="Arimo Bold"/>
                <a:ea typeface="Arimo Bold"/>
              </a:rPr>
              <a:t>Online tutorials</a:t>
            </a:r>
            <a:endParaRPr b="0" lang="en-IN" sz="2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917"/>
              </a:lnSpc>
            </a:pPr>
            <a:r>
              <a:rPr b="1" lang="en-US" sz="2700" strike="noStrike" u="none">
                <a:solidFill>
                  <a:srgbClr val="ffffff"/>
                </a:solidFill>
                <a:effectLst/>
                <a:uFillTx/>
                <a:latin typeface="Arimo Bold"/>
                <a:ea typeface="Arimo Bold"/>
              </a:rPr>
              <a:t>Acknowledgement:</a:t>
            </a:r>
            <a:endParaRPr b="0" lang="en-IN" sz="2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582840" indent="-291600" defTabSz="914400">
              <a:lnSpc>
                <a:spcPts val="2917"/>
              </a:lnSpc>
              <a:buClr>
                <a:srgbClr val="ffffff"/>
              </a:buClr>
              <a:buFont typeface="Arial"/>
              <a:buChar char="•"/>
            </a:pPr>
            <a:r>
              <a:rPr b="1" lang="en-US" sz="2700" strike="noStrike" u="none">
                <a:solidFill>
                  <a:srgbClr val="ffffff"/>
                </a:solidFill>
                <a:effectLst/>
                <a:uFillTx/>
                <a:latin typeface="Arimo Bold"/>
                <a:ea typeface="Arimo Bold"/>
              </a:rPr>
              <a:t>Thanks to my guide</a:t>
            </a:r>
            <a:endParaRPr b="0" lang="en-IN" sz="2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582840" indent="-291600" defTabSz="914400">
              <a:lnSpc>
                <a:spcPts val="2917"/>
              </a:lnSpc>
              <a:buClr>
                <a:srgbClr val="ffffff"/>
              </a:buClr>
              <a:buFont typeface="Arial"/>
              <a:buChar char="•"/>
            </a:pPr>
            <a:r>
              <a:rPr b="1" lang="en-US" sz="2700" strike="noStrike" u="none">
                <a:solidFill>
                  <a:srgbClr val="ffffff"/>
                </a:solidFill>
                <a:effectLst/>
                <a:uFillTx/>
                <a:latin typeface="Arimo Bold"/>
                <a:ea typeface="Arimo Bold"/>
              </a:rPr>
              <a:t>Department staff</a:t>
            </a:r>
            <a:endParaRPr b="0" lang="en-IN" sz="2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582840" indent="-291600" defTabSz="914400">
              <a:lnSpc>
                <a:spcPts val="2917"/>
              </a:lnSpc>
              <a:buClr>
                <a:srgbClr val="ffffff"/>
              </a:buClr>
              <a:buFont typeface="Arial"/>
              <a:buChar char="•"/>
            </a:pPr>
            <a:r>
              <a:rPr b="1" lang="en-US" sz="2700" strike="noStrike" u="none">
                <a:solidFill>
                  <a:srgbClr val="ffffff"/>
                </a:solidFill>
                <a:effectLst/>
                <a:uFillTx/>
                <a:latin typeface="Arimo Bold"/>
                <a:ea typeface="Arimo Bold"/>
              </a:rPr>
              <a:t>Friends for support</a:t>
            </a:r>
            <a:endParaRPr b="0" lang="en-IN" sz="2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917"/>
              </a:lnSpc>
            </a:pP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267" name="Group 14"/>
          <p:cNvGrpSpPr/>
          <p:nvPr/>
        </p:nvGrpSpPr>
        <p:grpSpPr>
          <a:xfrm>
            <a:off x="849600" y="982080"/>
            <a:ext cx="2816640" cy="703800"/>
            <a:chOff x="849600" y="982080"/>
            <a:chExt cx="2816640" cy="703800"/>
          </a:xfrm>
        </p:grpSpPr>
        <p:sp>
          <p:nvSpPr>
            <p:cNvPr id="268" name="Freeform 15" descr="A blue and red logo  AI-generated content may be incorrect."/>
            <p:cNvSpPr/>
            <p:nvPr/>
          </p:nvSpPr>
          <p:spPr>
            <a:xfrm>
              <a:off x="849600" y="982080"/>
              <a:ext cx="2816640" cy="703800"/>
            </a:xfrm>
            <a:custGeom>
              <a:avLst/>
              <a:gdLst>
                <a:gd name="textAreaLeft" fmla="*/ 0 w 2816640"/>
                <a:gd name="textAreaRight" fmla="*/ 2817000 w 2816640"/>
                <a:gd name="textAreaTop" fmla="*/ 0 h 703800"/>
                <a:gd name="textAreaBottom" fmla="*/ 704160 h 703800"/>
              </a:gdLst>
              <a:ahLst/>
              <a:cxnLst/>
              <a:rect l="textAreaLeft" t="textAreaTop" r="textAreaRight" b="textAreaBottom"/>
              <a:pathLst>
                <a:path w="3756025" h="939038">
                  <a:moveTo>
                    <a:pt x="0" y="0"/>
                  </a:moveTo>
                  <a:lnTo>
                    <a:pt x="3756025" y="0"/>
                  </a:lnTo>
                  <a:lnTo>
                    <a:pt x="3756025" y="939038"/>
                  </a:lnTo>
                  <a:lnTo>
                    <a:pt x="0" y="939038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2"/>
              <a:srcRect/>
              <a:stretch>
                <a:fillRect r="-33333" b="-33350"/>
              </a:stretch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269" name="Group 16"/>
          <p:cNvGrpSpPr/>
          <p:nvPr/>
        </p:nvGrpSpPr>
        <p:grpSpPr>
          <a:xfrm>
            <a:off x="849600" y="884880"/>
            <a:ext cx="2816640" cy="8419680"/>
            <a:chOff x="849600" y="884880"/>
            <a:chExt cx="2816640" cy="8419680"/>
          </a:xfrm>
        </p:grpSpPr>
        <p:sp>
          <p:nvSpPr>
            <p:cNvPr id="270" name="Freeform 17"/>
            <p:cNvSpPr/>
            <p:nvPr/>
          </p:nvSpPr>
          <p:spPr>
            <a:xfrm>
              <a:off x="849600" y="884880"/>
              <a:ext cx="2816640" cy="8419320"/>
            </a:xfrm>
            <a:custGeom>
              <a:avLst/>
              <a:gdLst>
                <a:gd name="textAreaLeft" fmla="*/ 0 w 2816640"/>
                <a:gd name="textAreaRight" fmla="*/ 2817000 w 2816640"/>
                <a:gd name="textAreaTop" fmla="*/ 0 h 8419320"/>
                <a:gd name="textAreaBottom" fmla="*/ 8419680 h 8419320"/>
              </a:gdLst>
              <a:ahLst/>
              <a:cxnLst/>
              <a:rect l="textAreaLeft" t="textAreaTop" r="textAreaRight" b="textAreaBottom"/>
              <a:pathLst>
                <a:path w="3755980" h="11226474">
                  <a:moveTo>
                    <a:pt x="0" y="0"/>
                  </a:moveTo>
                  <a:lnTo>
                    <a:pt x="3755980" y="0"/>
                  </a:lnTo>
                  <a:lnTo>
                    <a:pt x="3755980" y="11226474"/>
                  </a:lnTo>
                  <a:lnTo>
                    <a:pt x="0" y="11226474"/>
                  </a:lnTo>
                  <a:close/>
                </a:path>
              </a:pathLst>
            </a:custGeom>
            <a:blipFill rotWithShape="0">
              <a:blip r:embed="rId3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71" name="TextBox 18"/>
            <p:cNvSpPr/>
            <p:nvPr/>
          </p:nvSpPr>
          <p:spPr>
            <a:xfrm>
              <a:off x="849600" y="934920"/>
              <a:ext cx="2816640" cy="83696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defTabSz="914400">
                <a:lnSpc>
                  <a:spcPts val="2880"/>
                </a:lnSpc>
              </a:pPr>
              <a:r>
                <a:rPr b="0" lang="en-US" sz="3000" spc="156" strike="noStrike" u="none">
                  <a:solidFill>
                    <a:srgbClr val="ffffff"/>
                  </a:solidFill>
                  <a:effectLst/>
                  <a:uFillTx/>
                  <a:latin typeface="Big Shoulders Display"/>
                  <a:ea typeface="Big Shoulders Display"/>
                </a:rPr>
                <a:t>JAVA Programming Project Presentation</a:t>
              </a:r>
              <a:endParaRPr b="0" lang="en-IN" sz="30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f4fbfe"/>
            </a:gs>
            <a:gs pos="74000">
              <a:srgbClr val="99daf3"/>
            </a:gs>
            <a:gs pos="83000">
              <a:srgbClr val="99daf3"/>
            </a:gs>
            <a:gs pos="100000">
              <a:srgbClr val="bbe6f7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AutoShape 2"/>
          <p:cNvSpPr/>
          <p:nvPr/>
        </p:nvSpPr>
        <p:spPr>
          <a:xfrm flipV="1">
            <a:off x="1128600" y="1215360"/>
            <a:ext cx="28440" cy="1400400"/>
          </a:xfrm>
          <a:prstGeom prst="line">
            <a:avLst/>
          </a:prstGeom>
          <a:ln cap="rnd" w="19050">
            <a:solidFill>
              <a:srgbClr val="1cade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273" name="Group 3"/>
          <p:cNvGrpSpPr/>
          <p:nvPr/>
        </p:nvGrpSpPr>
        <p:grpSpPr>
          <a:xfrm>
            <a:off x="0" y="0"/>
            <a:ext cx="18287640" cy="10286640"/>
            <a:chOff x="0" y="0"/>
            <a:chExt cx="18287640" cy="10286640"/>
          </a:xfrm>
        </p:grpSpPr>
        <p:sp>
          <p:nvSpPr>
            <p:cNvPr id="274" name="Freeform 4"/>
            <p:cNvSpPr/>
            <p:nvPr/>
          </p:nvSpPr>
          <p:spPr>
            <a:xfrm>
              <a:off x="0" y="0"/>
              <a:ext cx="18287640" cy="10286640"/>
            </a:xfrm>
            <a:custGeom>
              <a:avLst/>
              <a:gdLst>
                <a:gd name="textAreaLeft" fmla="*/ 0 w 18287640"/>
                <a:gd name="textAreaRight" fmla="*/ 18288000 w 18287640"/>
                <a:gd name="textAreaTop" fmla="*/ 0 h 10286640"/>
                <a:gd name="textAreaBottom" fmla="*/ 10287000 h 10286640"/>
              </a:gdLst>
              <a:ahLst/>
              <a:cxnLst/>
              <a:rect l="textAreaLeft" t="textAreaTop" r="textAreaRight" b="textAreaBottom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275" name="Group 5"/>
          <p:cNvGrpSpPr/>
          <p:nvPr/>
        </p:nvGrpSpPr>
        <p:grpSpPr>
          <a:xfrm>
            <a:off x="491400" y="482760"/>
            <a:ext cx="17326440" cy="9321480"/>
            <a:chOff x="491400" y="482760"/>
            <a:chExt cx="17326440" cy="9321480"/>
          </a:xfrm>
        </p:grpSpPr>
        <p:sp>
          <p:nvSpPr>
            <p:cNvPr id="276" name="Freeform 6"/>
            <p:cNvSpPr/>
            <p:nvPr/>
          </p:nvSpPr>
          <p:spPr>
            <a:xfrm>
              <a:off x="491400" y="482760"/>
              <a:ext cx="17326440" cy="9321480"/>
            </a:xfrm>
            <a:custGeom>
              <a:avLst/>
              <a:gdLst>
                <a:gd name="textAreaLeft" fmla="*/ 0 w 17326440"/>
                <a:gd name="textAreaRight" fmla="*/ 17326800 w 17326440"/>
                <a:gd name="textAreaTop" fmla="*/ 0 h 9321480"/>
                <a:gd name="textAreaBottom" fmla="*/ 9321840 h 9321480"/>
              </a:gdLst>
              <a:ahLst/>
              <a:cxnLst/>
              <a:rect l="textAreaLeft" t="textAreaTop" r="textAreaRight" b="textAreaBottom"/>
              <a:pathLst>
                <a:path w="23102315" h="12429109">
                  <a:moveTo>
                    <a:pt x="0" y="0"/>
                  </a:moveTo>
                  <a:lnTo>
                    <a:pt x="23102315" y="0"/>
                  </a:lnTo>
                  <a:lnTo>
                    <a:pt x="23102315" y="12429109"/>
                  </a:lnTo>
                  <a:lnTo>
                    <a:pt x="0" y="12429109"/>
                  </a:lnTo>
                  <a:close/>
                </a:path>
              </a:pathLst>
            </a:custGeom>
            <a:solidFill>
              <a:srgbClr val="1cade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277" name="Group 7"/>
          <p:cNvGrpSpPr/>
          <p:nvPr/>
        </p:nvGrpSpPr>
        <p:grpSpPr>
          <a:xfrm>
            <a:off x="1536120" y="877680"/>
            <a:ext cx="15494040" cy="2249280"/>
            <a:chOff x="1536120" y="877680"/>
            <a:chExt cx="15494040" cy="2249280"/>
          </a:xfrm>
        </p:grpSpPr>
        <p:sp>
          <p:nvSpPr>
            <p:cNvPr id="278" name="Freeform 8"/>
            <p:cNvSpPr/>
            <p:nvPr/>
          </p:nvSpPr>
          <p:spPr>
            <a:xfrm>
              <a:off x="1536120" y="877680"/>
              <a:ext cx="15494040" cy="2248920"/>
            </a:xfrm>
            <a:custGeom>
              <a:avLst/>
              <a:gdLst>
                <a:gd name="textAreaLeft" fmla="*/ 0 w 15494040"/>
                <a:gd name="textAreaRight" fmla="*/ 15494400 w 15494040"/>
                <a:gd name="textAreaTop" fmla="*/ 0 h 2248920"/>
                <a:gd name="textAreaBottom" fmla="*/ 2249280 h 2248920"/>
              </a:gdLst>
              <a:ahLst/>
              <a:cxnLst/>
              <a:rect l="textAreaLeft" t="textAreaTop" r="textAreaRight" b="textAreaBottom"/>
              <a:pathLst>
                <a:path w="20659342" h="2999232">
                  <a:moveTo>
                    <a:pt x="0" y="0"/>
                  </a:moveTo>
                  <a:lnTo>
                    <a:pt x="20659342" y="0"/>
                  </a:lnTo>
                  <a:lnTo>
                    <a:pt x="20659342" y="2999232"/>
                  </a:lnTo>
                  <a:lnTo>
                    <a:pt x="0" y="2999232"/>
                  </a:lnTo>
                  <a:close/>
                </a:path>
              </a:pathLst>
            </a:custGeom>
            <a:blipFill rotWithShape="0">
              <a:blip r:embed="rId1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79" name="TextBox 9"/>
            <p:cNvSpPr/>
            <p:nvPr/>
          </p:nvSpPr>
          <p:spPr>
            <a:xfrm>
              <a:off x="1536120" y="992160"/>
              <a:ext cx="15494040" cy="21348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defTabSz="914400">
                <a:lnSpc>
                  <a:spcPts val="7200"/>
                </a:lnSpc>
              </a:pPr>
              <a:r>
                <a:rPr b="0" lang="en-US" sz="7500" spc="164" strike="noStrike" u="none">
                  <a:solidFill>
                    <a:srgbClr val="ffffff"/>
                  </a:solidFill>
                  <a:effectLst/>
                  <a:uFillTx/>
                  <a:latin typeface="Big Shoulders Display"/>
                  <a:ea typeface="Big Shoulders Display"/>
                </a:rPr>
                <a:t>Thank You</a:t>
              </a:r>
              <a:endParaRPr b="0" lang="en-IN" sz="75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280" name="AutoShape 10"/>
          <p:cNvSpPr/>
          <p:nvPr/>
        </p:nvSpPr>
        <p:spPr>
          <a:xfrm flipV="1">
            <a:off x="1128600" y="1215360"/>
            <a:ext cx="28440" cy="1400400"/>
          </a:xfrm>
          <a:prstGeom prst="line">
            <a:avLst/>
          </a:prstGeom>
          <a:ln cap="rnd" w="19050">
            <a:solidFill>
              <a:srgbClr val="1cade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1" name="TextBox 11"/>
          <p:cNvSpPr/>
          <p:nvPr/>
        </p:nvSpPr>
        <p:spPr>
          <a:xfrm>
            <a:off x="2414880" y="3609360"/>
            <a:ext cx="15402600" cy="75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2917"/>
              </a:lnSpc>
            </a:pP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488520" indent="-244440" defTabSz="914400">
              <a:lnSpc>
                <a:spcPts val="2917"/>
              </a:lnSpc>
              <a:buClr>
                <a:srgbClr val="ffffff"/>
              </a:buClr>
              <a:buFont typeface="Arial"/>
              <a:buChar char="•"/>
            </a:pPr>
            <a:r>
              <a:rPr b="1" lang="en-US" sz="2700" strike="noStrike" u="none">
                <a:solidFill>
                  <a:srgbClr val="ffffff"/>
                </a:solidFill>
                <a:effectLst/>
                <a:uFillTx/>
                <a:latin typeface="Arimo Bold"/>
                <a:ea typeface="Arimo Bold"/>
              </a:rPr>
              <a:t>“From Barcode to Bill in Seconds.”</a:t>
            </a:r>
            <a:endParaRPr b="0" lang="en-IN" sz="2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LibreOffice/25.2.7.2$Windows_X86_64 LibreOffice_project/5cbfd1ab6520636bb5f7b99185aa69bd7456825d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  <dc:creator/>
  <dc:description/>
  <dc:identifier>DAHGV36A0J4</dc:identifier>
  <dc:language>en-IN</dc:language>
  <cp:lastModifiedBy/>
  <dcterms:modified xsi:type="dcterms:W3CDTF">2011-08-01T06:04:30Z</dcterms:modified>
  <cp:revision>1</cp:revision>
  <dc:subject/>
  <dc:title>C_Programming_Project_Presentation 2.pptx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